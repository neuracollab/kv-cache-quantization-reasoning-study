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7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5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_rels/presentation.xml.rels" ContentType="application/vnd.openxmlformats-package.relationships+xml"/>
  <Override PartName="/ppt/media/image13.emf" ContentType="image/x-emf"/>
  <Override PartName="/ppt/media/image25.png" ContentType="image/png"/>
  <Override PartName="/ppt/media/image11.emf" ContentType="image/x-emf"/>
  <Override PartName="/ppt/media/image23.png" ContentType="image/png"/>
  <Override PartName="/ppt/media/image8.png" ContentType="image/png"/>
  <Override PartName="/ppt/media/image7.jpeg" ContentType="image/jpeg"/>
  <Override PartName="/ppt/media/image9.png" ContentType="image/png"/>
  <Override PartName="/ppt/media/image10.emf" ContentType="image/x-emf"/>
  <Override PartName="/ppt/media/image22.png" ContentType="image/png"/>
  <Override PartName="/ppt/media/image6.jpeg" ContentType="image/jpeg"/>
  <Override PartName="/ppt/media/image1.png" ContentType="image/png"/>
  <Override PartName="/ppt/media/image12.emf" ContentType="image/x-emf"/>
  <Override PartName="/ppt/media/image24.png" ContentType="image/png"/>
  <Override PartName="/ppt/media/image5.jpeg" ContentType="image/jpeg"/>
  <Override PartName="/ppt/media/image4.png" ContentType="image/png"/>
  <Override PartName="/ppt/media/image3.jpeg" ContentType="image/jpeg"/>
  <Override PartName="/ppt/media/image21.png" ContentType="image/png"/>
  <Override PartName="/ppt/media/image19.emf" ContentType="image/x-emf"/>
  <Override PartName="/ppt/media/image20.emf" ContentType="image/x-emf"/>
  <Override PartName="/ppt/media/image18.emf" ContentType="image/x-emf"/>
  <Override PartName="/ppt/media/image29.png" ContentType="image/png"/>
  <Override PartName="/ppt/media/image17.emf" ContentType="image/x-emf"/>
  <Override PartName="/ppt/media/image28.png" ContentType="image/png"/>
  <Override PartName="/ppt/media/image16.emf" ContentType="image/x-emf"/>
  <Override PartName="/ppt/media/image2.png" ContentType="image/png"/>
  <Override PartName="/ppt/media/image27.png" ContentType="image/png"/>
  <Override PartName="/ppt/media/image15.emf" ContentType="image/x-emf"/>
  <Override PartName="/ppt/media/image14.emf" ContentType="image/x-emf"/>
  <Override PartName="/ppt/media/image26.png" ContentType="image/png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49" r:id="rId3"/>
    <p:sldMasterId id="2147483650" r:id="rId4"/>
    <p:sldMasterId id="2147483652" r:id="rId5"/>
    <p:sldMasterId id="2147483653" r:id="rId6"/>
    <p:sldMasterId id="2147483654" r:id="rId7"/>
    <p:sldMasterId id="2147483655" r:id="rId8"/>
    <p:sldMasterId id="2147483657" r:id="rId9"/>
    <p:sldMasterId id="2147483658" r:id="rId10"/>
    <p:sldMasterId id="2147483659" r:id="rId11"/>
    <p:sldMasterId id="2147483660" r:id="rId12"/>
    <p:sldMasterId id="2147483662" r:id="rId13"/>
    <p:sldMasterId id="2147483664" r:id="rId14"/>
    <p:sldMasterId id="2147483666" r:id="rId15"/>
    <p:sldMasterId id="2147483668" r:id="rId16"/>
    <p:sldMasterId id="2147483670" r:id="rId17"/>
    <p:sldMasterId id="2147483672" r:id="rId18"/>
    <p:sldMasterId id="2147483674" r:id="rId19"/>
  </p:sldMasterIdLst>
  <p:sldIdLst>
    <p:sldId id="256" r:id="rId20"/>
    <p:sldId id="257" r:id="rId21"/>
    <p:sldId id="258" r:id="rId22"/>
    <p:sldId id="259" r:id="rId23"/>
    <p:sldId id="260" r:id="rId24"/>
    <p:sldId id="261" r:id="rId25"/>
    <p:sldId id="262" r:id="rId26"/>
    <p:sldId id="263" r:id="rId27"/>
    <p:sldId id="264" r:id="rId28"/>
    <p:sldId id="265" r:id="rId29"/>
    <p:sldId id="266" r:id="rId30"/>
    <p:sldId id="267" r:id="rId31"/>
    <p:sldId id="268" r:id="rId32"/>
    <p:sldId id="269" r:id="rId33"/>
    <p:sldId id="270" r:id="rId34"/>
    <p:sldId id="271" r:id="rId35"/>
    <p:sldId id="272" r:id="rId36"/>
    <p:sldId id="273" r:id="rId37"/>
    <p:sldId id="274" r:id="rId38"/>
    <p:sldId id="275" r:id="rId39"/>
    <p:sldId id="276" r:id="rId4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" Target="slides/slide1.xml"/><Relationship Id="rId21" Type="http://schemas.openxmlformats.org/officeDocument/2006/relationships/slide" Target="slides/slide2.xml"/><Relationship Id="rId22" Type="http://schemas.openxmlformats.org/officeDocument/2006/relationships/slide" Target="slides/slide3.xml"/><Relationship Id="rId23" Type="http://schemas.openxmlformats.org/officeDocument/2006/relationships/slide" Target="slides/slide4.xml"/><Relationship Id="rId24" Type="http://schemas.openxmlformats.org/officeDocument/2006/relationships/slide" Target="slides/slide5.xml"/><Relationship Id="rId25" Type="http://schemas.openxmlformats.org/officeDocument/2006/relationships/slide" Target="slides/slide6.xml"/><Relationship Id="rId26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slide" Target="slides/slide9.xml"/><Relationship Id="rId29" Type="http://schemas.openxmlformats.org/officeDocument/2006/relationships/slide" Target="slides/slide10.xml"/><Relationship Id="rId30" Type="http://schemas.openxmlformats.org/officeDocument/2006/relationships/slide" Target="slides/slide11.xml"/><Relationship Id="rId31" Type="http://schemas.openxmlformats.org/officeDocument/2006/relationships/slide" Target="slides/slide12.xml"/><Relationship Id="rId32" Type="http://schemas.openxmlformats.org/officeDocument/2006/relationships/slide" Target="slides/slide13.xml"/><Relationship Id="rId33" Type="http://schemas.openxmlformats.org/officeDocument/2006/relationships/slide" Target="slides/slide14.xml"/><Relationship Id="rId34" Type="http://schemas.openxmlformats.org/officeDocument/2006/relationships/slide" Target="slides/slide15.xml"/><Relationship Id="rId35" Type="http://schemas.openxmlformats.org/officeDocument/2006/relationships/slide" Target="slides/slide16.xml"/><Relationship Id="rId36" Type="http://schemas.openxmlformats.org/officeDocument/2006/relationships/slide" Target="slides/slide17.xml"/><Relationship Id="rId37" Type="http://schemas.openxmlformats.org/officeDocument/2006/relationships/slide" Target="slides/slide18.xml"/><Relationship Id="rId38" Type="http://schemas.openxmlformats.org/officeDocument/2006/relationships/slide" Target="slides/slide19.xml"/><Relationship Id="rId39" Type="http://schemas.openxmlformats.org/officeDocument/2006/relationships/slide" Target="slides/slide20.xml"/><Relationship Id="rId40" Type="http://schemas.openxmlformats.org/officeDocument/2006/relationships/slide" Target="slides/slide21.xml"/><Relationship Id="rId4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237960" y="-53640"/>
            <a:ext cx="103032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subTitle"/>
          </p:nvPr>
        </p:nvSpPr>
        <p:spPr>
          <a:xfrm>
            <a:off x="237960" y="1268280"/>
            <a:ext cx="11777040" cy="504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D176CE1-68DB-41CB-B74B-F5B3DD7B3941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и объект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0C506D-FE3E-44DF-A165-D3E3862A1570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и объект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5886B3AB-23F8-48F4-B63F-EDD69BFCE8E8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и объект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874D9D9-0D43-4F46-9D82-F16FED8D1179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и объект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F53CD20-A46B-4995-ADF8-881C07B38FA4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и объект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D493513F-3D7E-4A05-938E-C1315839E2D5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и объект_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55452A2-0672-4C82-A399-4C6BD1C96BC9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и объект__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34A2CB2-3376-444D-BAAB-D77B58EE9E6A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5.jpe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6.jpe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7.jpe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3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4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5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6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7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8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9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Рисунок 4" descr=""/>
          <p:cNvPicPr/>
          <p:nvPr/>
        </p:nvPicPr>
        <p:blipFill>
          <a:blip r:embed="rId2"/>
          <a:srcRect l="0" t="0" r="46262" b="0"/>
          <a:stretch/>
        </p:blipFill>
        <p:spPr>
          <a:xfrm>
            <a:off x="9877680" y="0"/>
            <a:ext cx="2313360" cy="68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" name="Рисунок 7" descr=""/>
          <p:cNvPicPr/>
          <p:nvPr/>
        </p:nvPicPr>
        <p:blipFill>
          <a:blip r:embed="rId3"/>
          <a:stretch/>
        </p:blipFill>
        <p:spPr>
          <a:xfrm>
            <a:off x="10708200" y="259560"/>
            <a:ext cx="1302840" cy="42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Прямоугольник 9"/>
          <p:cNvSpPr/>
          <p:nvPr/>
        </p:nvSpPr>
        <p:spPr>
          <a:xfrm flipV="1">
            <a:off x="11456280" y="6698160"/>
            <a:ext cx="734760" cy="67320"/>
          </a:xfrm>
          <a:prstGeom prst="rect">
            <a:avLst/>
          </a:prstGeom>
          <a:solidFill>
            <a:schemeClr val="accent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3040" bIns="23040" anchor="ctr">
            <a:noAutofit/>
          </a:bodyPr>
          <a:p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3" name="Группа 3"/>
          <p:cNvGrpSpPr/>
          <p:nvPr/>
        </p:nvGrpSpPr>
        <p:grpSpPr>
          <a:xfrm>
            <a:off x="12353760" y="159120"/>
            <a:ext cx="1102680" cy="2973240"/>
            <a:chOff x="12353760" y="159120"/>
            <a:chExt cx="1102680" cy="2973240"/>
          </a:xfrm>
        </p:grpSpPr>
        <p:sp>
          <p:nvSpPr>
            <p:cNvPr id="4" name="Прямоугольник: скругленные противолежащие углы 11"/>
            <p:cNvSpPr/>
            <p:nvPr/>
          </p:nvSpPr>
          <p:spPr>
            <a:xfrm>
              <a:off x="12353760" y="15912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1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5" name="TextBox 16"/>
            <p:cNvSpPr/>
            <p:nvPr/>
          </p:nvSpPr>
          <p:spPr>
            <a:xfrm>
              <a:off x="12459240" y="254520"/>
              <a:ext cx="892440" cy="21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175 / 44 / 34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Прямоугольник: скругленные противолежащие углы 27"/>
            <p:cNvSpPr/>
            <p:nvPr/>
          </p:nvSpPr>
          <p:spPr>
            <a:xfrm>
              <a:off x="12353760" y="67032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" name="TextBox 28"/>
            <p:cNvSpPr/>
            <p:nvPr/>
          </p:nvSpPr>
          <p:spPr>
            <a:xfrm>
              <a:off x="12459240" y="766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200 / 160 / 110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Прямоугольник: скругленные противолежащие углы 29"/>
            <p:cNvSpPr/>
            <p:nvPr/>
          </p:nvSpPr>
          <p:spPr>
            <a:xfrm>
              <a:off x="12353760" y="1174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" name="TextBox 30"/>
            <p:cNvSpPr/>
            <p:nvPr/>
          </p:nvSpPr>
          <p:spPr>
            <a:xfrm>
              <a:off x="12459240" y="1270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201 / 188 / 171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Прямоугольник: скругленные противолежащие углы 31"/>
            <p:cNvSpPr/>
            <p:nvPr/>
          </p:nvSpPr>
          <p:spPr>
            <a:xfrm>
              <a:off x="12353760" y="1678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3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" name="TextBox 32"/>
            <p:cNvSpPr/>
            <p:nvPr/>
          </p:nvSpPr>
          <p:spPr>
            <a:xfrm>
              <a:off x="12459240" y="1774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135 / 135 / 135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Прямоугольник: скругленные противолежащие углы 33"/>
            <p:cNvSpPr/>
            <p:nvPr/>
          </p:nvSpPr>
          <p:spPr>
            <a:xfrm>
              <a:off x="12353760" y="2182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5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3" name="TextBox 34"/>
            <p:cNvSpPr/>
            <p:nvPr/>
          </p:nvSpPr>
          <p:spPr>
            <a:xfrm>
              <a:off x="12459240" y="2278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135 / 135 / 135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Прямоугольник: скругленные противолежащие углы 18"/>
            <p:cNvSpPr/>
            <p:nvPr/>
          </p:nvSpPr>
          <p:spPr>
            <a:xfrm>
              <a:off x="12353760" y="270324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6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5" name="TextBox 19"/>
            <p:cNvSpPr/>
            <p:nvPr/>
          </p:nvSpPr>
          <p:spPr>
            <a:xfrm>
              <a:off x="12459240" y="279864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174 / 100 / 100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" name="TextBox 6"/>
          <p:cNvSpPr/>
          <p:nvPr/>
        </p:nvSpPr>
        <p:spPr>
          <a:xfrm>
            <a:off x="12353760" y="3255480"/>
            <a:ext cx="164376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Пожалуйста,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используйте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цветовую гамму </a:t>
            </a:r>
            <a:br>
              <a:rPr sz="1400"/>
            </a:br>
            <a:r>
              <a:rPr b="1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«300 лет СПбГУ»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sldNum" idx="1"/>
          </p:nvPr>
        </p:nvSpPr>
        <p:spPr>
          <a:xfrm>
            <a:off x="11456280" y="6460560"/>
            <a:ext cx="662760" cy="23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D4D89EC-5C8D-40A1-AC30-6F1B4A3C91AA}" type="slidenum">
              <a:rPr b="0" lang="ru-RU" sz="1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title"/>
          </p:nvPr>
        </p:nvSpPr>
        <p:spPr>
          <a:xfrm>
            <a:off x="228600" y="165240"/>
            <a:ext cx="10257840" cy="55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Образец заголовка</a:t>
            </a:r>
            <a:r>
              <a:rPr b="1" lang="en-US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 </a:t>
            </a: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(32 </a:t>
            </a:r>
            <a:r>
              <a:rPr b="1" lang="en-US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pt</a:t>
            </a: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)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7541640" y="984240"/>
            <a:ext cx="442116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ru-RU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Образец текста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7541640" y="2149560"/>
            <a:ext cx="4421160" cy="416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Образец текста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4" descr=""/>
          <p:cNvPicPr/>
          <p:nvPr/>
        </p:nvPicPr>
        <p:blipFill>
          <a:blip r:embed="rId2"/>
          <a:srcRect l="0" t="0" r="46262" b="0"/>
          <a:stretch/>
        </p:blipFill>
        <p:spPr>
          <a:xfrm>
            <a:off x="9877680" y="0"/>
            <a:ext cx="2313360" cy="68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Рисунок 7" descr=""/>
          <p:cNvPicPr/>
          <p:nvPr/>
        </p:nvPicPr>
        <p:blipFill>
          <a:blip r:embed="rId3"/>
          <a:stretch/>
        </p:blipFill>
        <p:spPr>
          <a:xfrm>
            <a:off x="10708200" y="259560"/>
            <a:ext cx="1302840" cy="42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Прямоугольник 9" hidden="1"/>
          <p:cNvSpPr/>
          <p:nvPr/>
        </p:nvSpPr>
        <p:spPr>
          <a:xfrm flipV="1">
            <a:off x="11456280" y="6698160"/>
            <a:ext cx="734760" cy="67320"/>
          </a:xfrm>
          <a:prstGeom prst="rect">
            <a:avLst/>
          </a:prstGeom>
          <a:solidFill>
            <a:schemeClr val="accent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3040" bIns="23040" anchor="ctr">
            <a:noAutofit/>
          </a:bodyPr>
          <a:p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24" name="Группа 3"/>
          <p:cNvGrpSpPr/>
          <p:nvPr/>
        </p:nvGrpSpPr>
        <p:grpSpPr>
          <a:xfrm>
            <a:off x="12353760" y="159120"/>
            <a:ext cx="1102680" cy="2973240"/>
            <a:chOff x="12353760" y="159120"/>
            <a:chExt cx="1102680" cy="2973240"/>
          </a:xfrm>
        </p:grpSpPr>
        <p:sp>
          <p:nvSpPr>
            <p:cNvPr id="25" name="Прямоугольник: скругленные противолежащие углы 11"/>
            <p:cNvSpPr/>
            <p:nvPr/>
          </p:nvSpPr>
          <p:spPr>
            <a:xfrm>
              <a:off x="12353760" y="15912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1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6" name="TextBox 16"/>
            <p:cNvSpPr/>
            <p:nvPr/>
          </p:nvSpPr>
          <p:spPr>
            <a:xfrm>
              <a:off x="12459240" y="254520"/>
              <a:ext cx="892440" cy="21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175 / 44 / 34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Прямоугольник: скругленные противолежащие углы 27"/>
            <p:cNvSpPr/>
            <p:nvPr/>
          </p:nvSpPr>
          <p:spPr>
            <a:xfrm>
              <a:off x="12353760" y="67032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8" name="TextBox 28"/>
            <p:cNvSpPr/>
            <p:nvPr/>
          </p:nvSpPr>
          <p:spPr>
            <a:xfrm>
              <a:off x="12459240" y="766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200 / 160 / 110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Прямоугольник: скругленные противолежащие углы 29"/>
            <p:cNvSpPr/>
            <p:nvPr/>
          </p:nvSpPr>
          <p:spPr>
            <a:xfrm>
              <a:off x="12353760" y="1174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0" name="TextBox 30"/>
            <p:cNvSpPr/>
            <p:nvPr/>
          </p:nvSpPr>
          <p:spPr>
            <a:xfrm>
              <a:off x="12459240" y="1270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201 / 188 / 171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Прямоугольник: скругленные противолежащие углы 31"/>
            <p:cNvSpPr/>
            <p:nvPr/>
          </p:nvSpPr>
          <p:spPr>
            <a:xfrm>
              <a:off x="12353760" y="1678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3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2" name="TextBox 32"/>
            <p:cNvSpPr/>
            <p:nvPr/>
          </p:nvSpPr>
          <p:spPr>
            <a:xfrm>
              <a:off x="12459240" y="1774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135 / 135 / 135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" name="Прямоугольник: скругленные противолежащие углы 33"/>
            <p:cNvSpPr/>
            <p:nvPr/>
          </p:nvSpPr>
          <p:spPr>
            <a:xfrm>
              <a:off x="12353760" y="2182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5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4" name="TextBox 34"/>
            <p:cNvSpPr/>
            <p:nvPr/>
          </p:nvSpPr>
          <p:spPr>
            <a:xfrm>
              <a:off x="12459240" y="2278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135 / 135 / 135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Прямоугольник: скругленные противолежащие углы 18"/>
            <p:cNvSpPr/>
            <p:nvPr/>
          </p:nvSpPr>
          <p:spPr>
            <a:xfrm>
              <a:off x="12353760" y="270324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6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6" name="TextBox 19"/>
            <p:cNvSpPr/>
            <p:nvPr/>
          </p:nvSpPr>
          <p:spPr>
            <a:xfrm>
              <a:off x="12459240" y="279864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174 / 100 / 100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" name="TextBox 6" hidden="1"/>
          <p:cNvSpPr/>
          <p:nvPr/>
        </p:nvSpPr>
        <p:spPr>
          <a:xfrm>
            <a:off x="12353760" y="3255480"/>
            <a:ext cx="164376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Пожалуйста,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используйте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цветовую гамму </a:t>
            </a:r>
            <a:br>
              <a:rPr sz="1400"/>
            </a:br>
            <a:r>
              <a:rPr b="1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«300 лет СПбГУ»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" name="Рисунок 4" descr=""/>
          <p:cNvPicPr/>
          <p:nvPr/>
        </p:nvPicPr>
        <p:blipFill>
          <a:blip r:embed="rId4"/>
          <a:stretch/>
        </p:blipFill>
        <p:spPr>
          <a:xfrm>
            <a:off x="0" y="0"/>
            <a:ext cx="12191400" cy="685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Прямоугольник 6"/>
          <p:cNvSpPr/>
          <p:nvPr/>
        </p:nvSpPr>
        <p:spPr>
          <a:xfrm>
            <a:off x="0" y="2019240"/>
            <a:ext cx="12191400" cy="3447360"/>
          </a:xfrm>
          <a:prstGeom prst="rect">
            <a:avLst/>
          </a:prstGeom>
          <a:solidFill>
            <a:schemeClr val="lt2">
              <a:lumMod val="90000"/>
            </a:schemeClr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40" name="Группа 7"/>
          <p:cNvGrpSpPr/>
          <p:nvPr/>
        </p:nvGrpSpPr>
        <p:grpSpPr>
          <a:xfrm>
            <a:off x="12321720" y="3684600"/>
            <a:ext cx="1102680" cy="2445120"/>
            <a:chOff x="12321720" y="3684600"/>
            <a:chExt cx="1102680" cy="2445120"/>
          </a:xfrm>
        </p:grpSpPr>
        <p:sp>
          <p:nvSpPr>
            <p:cNvPr id="41" name="Прямоугольник: скругленные противолежащие углы 8"/>
            <p:cNvSpPr/>
            <p:nvPr/>
          </p:nvSpPr>
          <p:spPr>
            <a:xfrm>
              <a:off x="12321720" y="368460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1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42" name="TextBox 9"/>
            <p:cNvSpPr/>
            <p:nvPr/>
          </p:nvSpPr>
          <p:spPr>
            <a:xfrm>
              <a:off x="12427200" y="3780000"/>
              <a:ext cx="892440" cy="21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175 / 44 / 34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Прямоугольник: скругленные противолежащие углы 10"/>
            <p:cNvSpPr/>
            <p:nvPr/>
          </p:nvSpPr>
          <p:spPr>
            <a:xfrm>
              <a:off x="12321720" y="419580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44" name="TextBox 11"/>
            <p:cNvSpPr/>
            <p:nvPr/>
          </p:nvSpPr>
          <p:spPr>
            <a:xfrm>
              <a:off x="12427200" y="429156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200 / 160 / 110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" name="Прямоугольник: скругленные противолежащие углы 12"/>
            <p:cNvSpPr/>
            <p:nvPr/>
          </p:nvSpPr>
          <p:spPr>
            <a:xfrm>
              <a:off x="12321720" y="470016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46" name="TextBox 13"/>
            <p:cNvSpPr/>
            <p:nvPr/>
          </p:nvSpPr>
          <p:spPr>
            <a:xfrm>
              <a:off x="12427200" y="479556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201 / 188 / 171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Прямоугольник: скругленные противолежащие углы 14"/>
            <p:cNvSpPr/>
            <p:nvPr/>
          </p:nvSpPr>
          <p:spPr>
            <a:xfrm>
              <a:off x="12321720" y="520416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3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48" name="TextBox 15"/>
            <p:cNvSpPr/>
            <p:nvPr/>
          </p:nvSpPr>
          <p:spPr>
            <a:xfrm>
              <a:off x="12427200" y="529956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135 / 135 / 135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Прямоугольник: скругленные противолежащие углы 16"/>
            <p:cNvSpPr/>
            <p:nvPr/>
          </p:nvSpPr>
          <p:spPr>
            <a:xfrm>
              <a:off x="12321720" y="570816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rgbClr val="8d3f3f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50" name="TextBox 17"/>
            <p:cNvSpPr/>
            <p:nvPr/>
          </p:nvSpPr>
          <p:spPr>
            <a:xfrm>
              <a:off x="12427200" y="5803560"/>
              <a:ext cx="892440" cy="21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141 / 63 / 63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1" name="PlaceHolder 1"/>
          <p:cNvSpPr>
            <a:spLocks noGrp="1"/>
          </p:cNvSpPr>
          <p:nvPr>
            <p:ph type="body"/>
          </p:nvPr>
        </p:nvSpPr>
        <p:spPr>
          <a:xfrm>
            <a:off x="658800" y="2876400"/>
            <a:ext cx="4712400" cy="154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ru-RU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Санкт-Петербург, </a:t>
            </a:r>
            <a:br>
              <a:rPr sz="1800"/>
            </a:br>
            <a:r>
              <a:rPr b="1" lang="ru-RU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Университетская наб., 7-9</a:t>
            </a:r>
            <a:br>
              <a:rPr sz="1800"/>
            </a:br>
            <a:r>
              <a:rPr b="1" lang="ru-RU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тел.: +7 (812) 360 60 30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Заголовок 1"/>
          <p:cNvSpPr/>
          <p:nvPr/>
        </p:nvSpPr>
        <p:spPr>
          <a:xfrm>
            <a:off x="10050480" y="5929200"/>
            <a:ext cx="166464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spbu.ru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" name="Рисунок 23" descr=""/>
          <p:cNvPicPr/>
          <p:nvPr/>
        </p:nvPicPr>
        <p:blipFill>
          <a:blip r:embed="rId5"/>
          <a:stretch/>
        </p:blipFill>
        <p:spPr>
          <a:xfrm>
            <a:off x="610200" y="675360"/>
            <a:ext cx="2567880" cy="78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519880" y="2876400"/>
            <a:ext cx="4712400" cy="154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mail@spbu.ru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Прямоугольник 1"/>
          <p:cNvSpPr/>
          <p:nvPr/>
        </p:nvSpPr>
        <p:spPr>
          <a:xfrm>
            <a:off x="664560" y="2154240"/>
            <a:ext cx="18360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28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Контакты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Рисунок 4" descr=""/>
          <p:cNvPicPr/>
          <p:nvPr/>
        </p:nvPicPr>
        <p:blipFill>
          <a:blip r:embed="rId3"/>
          <a:srcRect l="0" t="0" r="46262" b="0"/>
          <a:stretch/>
        </p:blipFill>
        <p:spPr>
          <a:xfrm>
            <a:off x="9877680" y="0"/>
            <a:ext cx="2313360" cy="68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" name="Рисунок 7" descr=""/>
          <p:cNvPicPr/>
          <p:nvPr/>
        </p:nvPicPr>
        <p:blipFill>
          <a:blip r:embed="rId4"/>
          <a:stretch/>
        </p:blipFill>
        <p:spPr>
          <a:xfrm>
            <a:off x="10708200" y="259560"/>
            <a:ext cx="1302840" cy="42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Прямоугольник 9" hidden="1"/>
          <p:cNvSpPr/>
          <p:nvPr/>
        </p:nvSpPr>
        <p:spPr>
          <a:xfrm flipV="1">
            <a:off x="11456280" y="6698160"/>
            <a:ext cx="734760" cy="67320"/>
          </a:xfrm>
          <a:prstGeom prst="rect">
            <a:avLst/>
          </a:prstGeom>
          <a:solidFill>
            <a:schemeClr val="accent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3040" bIns="23040" anchor="ctr">
            <a:noAutofit/>
          </a:bodyPr>
          <a:p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59" name="Группа 3"/>
          <p:cNvGrpSpPr/>
          <p:nvPr/>
        </p:nvGrpSpPr>
        <p:grpSpPr>
          <a:xfrm>
            <a:off x="12353760" y="159120"/>
            <a:ext cx="1102680" cy="2973240"/>
            <a:chOff x="12353760" y="159120"/>
            <a:chExt cx="1102680" cy="2973240"/>
          </a:xfrm>
        </p:grpSpPr>
        <p:sp>
          <p:nvSpPr>
            <p:cNvPr id="60" name="Прямоугольник: скругленные противолежащие углы 11"/>
            <p:cNvSpPr/>
            <p:nvPr/>
          </p:nvSpPr>
          <p:spPr>
            <a:xfrm>
              <a:off x="12353760" y="15912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1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1" name="TextBox 16"/>
            <p:cNvSpPr/>
            <p:nvPr/>
          </p:nvSpPr>
          <p:spPr>
            <a:xfrm>
              <a:off x="12459240" y="254520"/>
              <a:ext cx="892440" cy="21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175 / 44 / 34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Прямоугольник: скругленные противолежащие углы 27"/>
            <p:cNvSpPr/>
            <p:nvPr/>
          </p:nvSpPr>
          <p:spPr>
            <a:xfrm>
              <a:off x="12353760" y="67032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3" name="TextBox 28"/>
            <p:cNvSpPr/>
            <p:nvPr/>
          </p:nvSpPr>
          <p:spPr>
            <a:xfrm>
              <a:off x="12459240" y="766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200 / 160 / 110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Прямоугольник: скругленные противолежащие углы 29"/>
            <p:cNvSpPr/>
            <p:nvPr/>
          </p:nvSpPr>
          <p:spPr>
            <a:xfrm>
              <a:off x="12353760" y="1174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5" name="TextBox 30"/>
            <p:cNvSpPr/>
            <p:nvPr/>
          </p:nvSpPr>
          <p:spPr>
            <a:xfrm>
              <a:off x="12459240" y="1270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201 / 188 / 171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Прямоугольник: скругленные противолежащие углы 31"/>
            <p:cNvSpPr/>
            <p:nvPr/>
          </p:nvSpPr>
          <p:spPr>
            <a:xfrm>
              <a:off x="12353760" y="1678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3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7" name="TextBox 32"/>
            <p:cNvSpPr/>
            <p:nvPr/>
          </p:nvSpPr>
          <p:spPr>
            <a:xfrm>
              <a:off x="12459240" y="1774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135 / 135 / 135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Прямоугольник: скругленные противолежащие углы 33"/>
            <p:cNvSpPr/>
            <p:nvPr/>
          </p:nvSpPr>
          <p:spPr>
            <a:xfrm>
              <a:off x="12353760" y="2182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5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9" name="TextBox 34"/>
            <p:cNvSpPr/>
            <p:nvPr/>
          </p:nvSpPr>
          <p:spPr>
            <a:xfrm>
              <a:off x="12459240" y="2278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135 / 135 / 135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Прямоугольник: скругленные противолежащие углы 18"/>
            <p:cNvSpPr/>
            <p:nvPr/>
          </p:nvSpPr>
          <p:spPr>
            <a:xfrm>
              <a:off x="12353760" y="270324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6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1" name="TextBox 19"/>
            <p:cNvSpPr/>
            <p:nvPr/>
          </p:nvSpPr>
          <p:spPr>
            <a:xfrm>
              <a:off x="12459240" y="279864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174 / 100 / 100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2" name="TextBox 6" hidden="1"/>
          <p:cNvSpPr/>
          <p:nvPr/>
        </p:nvSpPr>
        <p:spPr>
          <a:xfrm>
            <a:off x="12353760" y="3255480"/>
            <a:ext cx="164376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Пожалуйста,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используйте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цветовую гамму </a:t>
            </a:r>
            <a:br>
              <a:rPr sz="1400"/>
            </a:br>
            <a:r>
              <a:rPr b="1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«300 лет СПбГУ»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72840" y="2133720"/>
            <a:ext cx="11300760" cy="127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4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Образец заголовка</a:t>
            </a:r>
            <a:endParaRPr b="0" lang="ru-RU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664920" y="5434200"/>
            <a:ext cx="11309040" cy="50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ru-RU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Фамилия Имя Отчество автора презентации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658800" y="5969160"/>
            <a:ext cx="11315160" cy="34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должность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Picture 2" descr="\\ad.pu.ru\RECTORAT\УСО\ДИЗАЙНЕРЫ\300 лет СПбГУ\300 лет логотипы все варианты\Logo 300 let classic white.png"/>
          <p:cNvPicPr/>
          <p:nvPr/>
        </p:nvPicPr>
        <p:blipFill>
          <a:blip r:embed="rId5"/>
          <a:stretch/>
        </p:blipFill>
        <p:spPr>
          <a:xfrm>
            <a:off x="1609560" y="436680"/>
            <a:ext cx="3772440" cy="115920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6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Рисунок 4" descr=""/>
          <p:cNvPicPr/>
          <p:nvPr/>
        </p:nvPicPr>
        <p:blipFill>
          <a:blip r:embed="rId3"/>
          <a:srcRect l="0" t="0" r="46262" b="0"/>
          <a:stretch/>
        </p:blipFill>
        <p:spPr>
          <a:xfrm>
            <a:off x="9877680" y="0"/>
            <a:ext cx="2313360" cy="68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Рисунок 7" descr=""/>
          <p:cNvPicPr/>
          <p:nvPr/>
        </p:nvPicPr>
        <p:blipFill>
          <a:blip r:embed="rId4"/>
          <a:stretch/>
        </p:blipFill>
        <p:spPr>
          <a:xfrm>
            <a:off x="10708200" y="259560"/>
            <a:ext cx="1302840" cy="42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Прямоугольник 9" hidden="1"/>
          <p:cNvSpPr/>
          <p:nvPr/>
        </p:nvSpPr>
        <p:spPr>
          <a:xfrm flipV="1">
            <a:off x="11456280" y="6698160"/>
            <a:ext cx="734760" cy="67320"/>
          </a:xfrm>
          <a:prstGeom prst="rect">
            <a:avLst/>
          </a:prstGeom>
          <a:solidFill>
            <a:schemeClr val="accent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3040" bIns="23040" anchor="ctr">
            <a:noAutofit/>
          </a:bodyPr>
          <a:p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82" name="Группа 3"/>
          <p:cNvGrpSpPr/>
          <p:nvPr/>
        </p:nvGrpSpPr>
        <p:grpSpPr>
          <a:xfrm>
            <a:off x="12353760" y="159120"/>
            <a:ext cx="1102680" cy="2973240"/>
            <a:chOff x="12353760" y="159120"/>
            <a:chExt cx="1102680" cy="2973240"/>
          </a:xfrm>
        </p:grpSpPr>
        <p:sp>
          <p:nvSpPr>
            <p:cNvPr id="83" name="Прямоугольник: скругленные противолежащие углы 11"/>
            <p:cNvSpPr/>
            <p:nvPr/>
          </p:nvSpPr>
          <p:spPr>
            <a:xfrm>
              <a:off x="12353760" y="15912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1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4" name="TextBox 16"/>
            <p:cNvSpPr/>
            <p:nvPr/>
          </p:nvSpPr>
          <p:spPr>
            <a:xfrm>
              <a:off x="12459240" y="254520"/>
              <a:ext cx="892440" cy="21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175 / 44 / 34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Прямоугольник: скругленные противолежащие углы 27"/>
            <p:cNvSpPr/>
            <p:nvPr/>
          </p:nvSpPr>
          <p:spPr>
            <a:xfrm>
              <a:off x="12353760" y="67032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6" name="TextBox 28"/>
            <p:cNvSpPr/>
            <p:nvPr/>
          </p:nvSpPr>
          <p:spPr>
            <a:xfrm>
              <a:off x="12459240" y="766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200 / 160 / 110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Прямоугольник: скругленные противолежащие углы 29"/>
            <p:cNvSpPr/>
            <p:nvPr/>
          </p:nvSpPr>
          <p:spPr>
            <a:xfrm>
              <a:off x="12353760" y="1174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8" name="TextBox 30"/>
            <p:cNvSpPr/>
            <p:nvPr/>
          </p:nvSpPr>
          <p:spPr>
            <a:xfrm>
              <a:off x="12459240" y="1270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201 / 188 / 171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Прямоугольник: скругленные противолежащие углы 31"/>
            <p:cNvSpPr/>
            <p:nvPr/>
          </p:nvSpPr>
          <p:spPr>
            <a:xfrm>
              <a:off x="12353760" y="1678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3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0" name="TextBox 32"/>
            <p:cNvSpPr/>
            <p:nvPr/>
          </p:nvSpPr>
          <p:spPr>
            <a:xfrm>
              <a:off x="12459240" y="1774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135 / 135 / 135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Прямоугольник: скругленные противолежащие углы 33"/>
            <p:cNvSpPr/>
            <p:nvPr/>
          </p:nvSpPr>
          <p:spPr>
            <a:xfrm>
              <a:off x="12353760" y="2182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5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2" name="TextBox 34"/>
            <p:cNvSpPr/>
            <p:nvPr/>
          </p:nvSpPr>
          <p:spPr>
            <a:xfrm>
              <a:off x="12459240" y="2278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135 / 135 / 135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Прямоугольник: скругленные противолежащие углы 18"/>
            <p:cNvSpPr/>
            <p:nvPr/>
          </p:nvSpPr>
          <p:spPr>
            <a:xfrm>
              <a:off x="12353760" y="270324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6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4" name="TextBox 19"/>
            <p:cNvSpPr/>
            <p:nvPr/>
          </p:nvSpPr>
          <p:spPr>
            <a:xfrm>
              <a:off x="12459240" y="279864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174 / 100 / 100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5" name="TextBox 6" hidden="1"/>
          <p:cNvSpPr/>
          <p:nvPr/>
        </p:nvSpPr>
        <p:spPr>
          <a:xfrm>
            <a:off x="12353760" y="3255480"/>
            <a:ext cx="164376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Пожалуйста,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используйте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цветовую гамму </a:t>
            </a:r>
            <a:br>
              <a:rPr sz="1400"/>
            </a:br>
            <a:r>
              <a:rPr b="1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«300 лет СПбГУ»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Прямоугольник 6"/>
          <p:cNvSpPr/>
          <p:nvPr/>
        </p:nvSpPr>
        <p:spPr>
          <a:xfrm>
            <a:off x="0" y="2019240"/>
            <a:ext cx="12191400" cy="3447360"/>
          </a:xfrm>
          <a:prstGeom prst="rect">
            <a:avLst/>
          </a:prstGeom>
          <a:solidFill>
            <a:schemeClr val="lt2">
              <a:lumMod val="90000"/>
              <a:alpha val="44000"/>
            </a:schemeClr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97" name="Группа 7"/>
          <p:cNvGrpSpPr/>
          <p:nvPr/>
        </p:nvGrpSpPr>
        <p:grpSpPr>
          <a:xfrm>
            <a:off x="12321720" y="3684600"/>
            <a:ext cx="1102680" cy="2445120"/>
            <a:chOff x="12321720" y="3684600"/>
            <a:chExt cx="1102680" cy="2445120"/>
          </a:xfrm>
        </p:grpSpPr>
        <p:sp>
          <p:nvSpPr>
            <p:cNvPr id="98" name="Прямоугольник: скругленные противолежащие углы 8"/>
            <p:cNvSpPr/>
            <p:nvPr/>
          </p:nvSpPr>
          <p:spPr>
            <a:xfrm>
              <a:off x="12321720" y="368460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1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9" name="TextBox 9"/>
            <p:cNvSpPr/>
            <p:nvPr/>
          </p:nvSpPr>
          <p:spPr>
            <a:xfrm>
              <a:off x="12427200" y="3780000"/>
              <a:ext cx="892440" cy="21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175 / 44 / 34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" name="Прямоугольник: скругленные противолежащие углы 10"/>
            <p:cNvSpPr/>
            <p:nvPr/>
          </p:nvSpPr>
          <p:spPr>
            <a:xfrm>
              <a:off x="12321720" y="419580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1" name="TextBox 11"/>
            <p:cNvSpPr/>
            <p:nvPr/>
          </p:nvSpPr>
          <p:spPr>
            <a:xfrm>
              <a:off x="12427200" y="429156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200 / 160 / 110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" name="Прямоугольник: скругленные противолежащие углы 12"/>
            <p:cNvSpPr/>
            <p:nvPr/>
          </p:nvSpPr>
          <p:spPr>
            <a:xfrm>
              <a:off x="12321720" y="470016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3" name="TextBox 13"/>
            <p:cNvSpPr/>
            <p:nvPr/>
          </p:nvSpPr>
          <p:spPr>
            <a:xfrm>
              <a:off x="12427200" y="479556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201 / 188 / 171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Прямоугольник: скругленные противолежащие углы 14"/>
            <p:cNvSpPr/>
            <p:nvPr/>
          </p:nvSpPr>
          <p:spPr>
            <a:xfrm>
              <a:off x="12321720" y="520416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3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5" name="TextBox 15"/>
            <p:cNvSpPr/>
            <p:nvPr/>
          </p:nvSpPr>
          <p:spPr>
            <a:xfrm>
              <a:off x="12427200" y="529956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135 / 135 / 135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Прямоугольник: скругленные противолежащие углы 16"/>
            <p:cNvSpPr/>
            <p:nvPr/>
          </p:nvSpPr>
          <p:spPr>
            <a:xfrm>
              <a:off x="12321720" y="570816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rgbClr val="8d3f3f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7" name="TextBox 17"/>
            <p:cNvSpPr/>
            <p:nvPr/>
          </p:nvSpPr>
          <p:spPr>
            <a:xfrm>
              <a:off x="12427200" y="5803560"/>
              <a:ext cx="892440" cy="21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141 / 63 / 63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8" name="PlaceHolder 1"/>
          <p:cNvSpPr>
            <a:spLocks noGrp="1"/>
          </p:cNvSpPr>
          <p:nvPr>
            <p:ph type="body"/>
          </p:nvPr>
        </p:nvSpPr>
        <p:spPr>
          <a:xfrm>
            <a:off x="658800" y="2876400"/>
            <a:ext cx="4712400" cy="154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ru-RU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Санкт-Петербург, </a:t>
            </a:r>
            <a:br>
              <a:rPr sz="1800"/>
            </a:br>
            <a:r>
              <a:rPr b="1" lang="ru-RU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Университетская наб., 7-9</a:t>
            </a:r>
            <a:br>
              <a:rPr sz="1800"/>
            </a:br>
            <a:r>
              <a:rPr b="1" lang="ru-RU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тел.: +7 (812) 360 60 30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Заголовок 1"/>
          <p:cNvSpPr/>
          <p:nvPr/>
        </p:nvSpPr>
        <p:spPr>
          <a:xfrm>
            <a:off x="10050480" y="5929200"/>
            <a:ext cx="166464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spbu.ru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" name="Рисунок 23" descr=""/>
          <p:cNvPicPr/>
          <p:nvPr/>
        </p:nvPicPr>
        <p:blipFill>
          <a:blip r:embed="rId5"/>
          <a:stretch/>
        </p:blipFill>
        <p:spPr>
          <a:xfrm>
            <a:off x="610200" y="675360"/>
            <a:ext cx="2567880" cy="78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5519880" y="2876400"/>
            <a:ext cx="4712400" cy="154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mail@spbu.ru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Прямоугольник 1"/>
          <p:cNvSpPr/>
          <p:nvPr/>
        </p:nvSpPr>
        <p:spPr>
          <a:xfrm>
            <a:off x="664560" y="2154240"/>
            <a:ext cx="18360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28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Контакты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Рисунок 4" descr=""/>
          <p:cNvPicPr/>
          <p:nvPr/>
        </p:nvPicPr>
        <p:blipFill>
          <a:blip r:embed="rId3"/>
          <a:srcRect l="0" t="0" r="46262" b="0"/>
          <a:stretch/>
        </p:blipFill>
        <p:spPr>
          <a:xfrm>
            <a:off x="9877680" y="0"/>
            <a:ext cx="2313360" cy="68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" name="Рисунок 7" descr=""/>
          <p:cNvPicPr/>
          <p:nvPr/>
        </p:nvPicPr>
        <p:blipFill>
          <a:blip r:embed="rId4"/>
          <a:stretch/>
        </p:blipFill>
        <p:spPr>
          <a:xfrm>
            <a:off x="10708200" y="259560"/>
            <a:ext cx="1302840" cy="42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Прямоугольник 9" hidden="1"/>
          <p:cNvSpPr/>
          <p:nvPr/>
        </p:nvSpPr>
        <p:spPr>
          <a:xfrm flipV="1">
            <a:off x="11456280" y="6698160"/>
            <a:ext cx="734760" cy="67320"/>
          </a:xfrm>
          <a:prstGeom prst="rect">
            <a:avLst/>
          </a:prstGeom>
          <a:solidFill>
            <a:schemeClr val="accent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3040" bIns="23040" anchor="ctr">
            <a:noAutofit/>
          </a:bodyPr>
          <a:p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116" name="Группа 3"/>
          <p:cNvGrpSpPr/>
          <p:nvPr/>
        </p:nvGrpSpPr>
        <p:grpSpPr>
          <a:xfrm>
            <a:off x="12353760" y="159120"/>
            <a:ext cx="1102680" cy="2973240"/>
            <a:chOff x="12353760" y="159120"/>
            <a:chExt cx="1102680" cy="2973240"/>
          </a:xfrm>
        </p:grpSpPr>
        <p:sp>
          <p:nvSpPr>
            <p:cNvPr id="117" name="Прямоугольник: скругленные противолежащие углы 11"/>
            <p:cNvSpPr/>
            <p:nvPr/>
          </p:nvSpPr>
          <p:spPr>
            <a:xfrm>
              <a:off x="12353760" y="15912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1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8" name="TextBox 16"/>
            <p:cNvSpPr/>
            <p:nvPr/>
          </p:nvSpPr>
          <p:spPr>
            <a:xfrm>
              <a:off x="12459240" y="254520"/>
              <a:ext cx="892440" cy="21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175 / 44 / 34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Прямоугольник: скругленные противолежащие углы 27"/>
            <p:cNvSpPr/>
            <p:nvPr/>
          </p:nvSpPr>
          <p:spPr>
            <a:xfrm>
              <a:off x="12353760" y="67032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0" name="TextBox 28"/>
            <p:cNvSpPr/>
            <p:nvPr/>
          </p:nvSpPr>
          <p:spPr>
            <a:xfrm>
              <a:off x="12459240" y="766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200 / 160 / 110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Прямоугольник: скругленные противолежащие углы 29"/>
            <p:cNvSpPr/>
            <p:nvPr/>
          </p:nvSpPr>
          <p:spPr>
            <a:xfrm>
              <a:off x="12353760" y="1174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2" name="TextBox 30"/>
            <p:cNvSpPr/>
            <p:nvPr/>
          </p:nvSpPr>
          <p:spPr>
            <a:xfrm>
              <a:off x="12459240" y="1270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201 / 188 / 171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Прямоугольник: скругленные противолежащие углы 31"/>
            <p:cNvSpPr/>
            <p:nvPr/>
          </p:nvSpPr>
          <p:spPr>
            <a:xfrm>
              <a:off x="12353760" y="1678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3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4" name="TextBox 32"/>
            <p:cNvSpPr/>
            <p:nvPr/>
          </p:nvSpPr>
          <p:spPr>
            <a:xfrm>
              <a:off x="12459240" y="1774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135 / 135 / 135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Прямоугольник: скругленные противолежащие углы 33"/>
            <p:cNvSpPr/>
            <p:nvPr/>
          </p:nvSpPr>
          <p:spPr>
            <a:xfrm>
              <a:off x="12353760" y="2182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5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6" name="TextBox 34"/>
            <p:cNvSpPr/>
            <p:nvPr/>
          </p:nvSpPr>
          <p:spPr>
            <a:xfrm>
              <a:off x="12459240" y="2278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135 / 135 / 135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Прямоугольник: скругленные противолежащие углы 18"/>
            <p:cNvSpPr/>
            <p:nvPr/>
          </p:nvSpPr>
          <p:spPr>
            <a:xfrm>
              <a:off x="12353760" y="270324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6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8" name="TextBox 19"/>
            <p:cNvSpPr/>
            <p:nvPr/>
          </p:nvSpPr>
          <p:spPr>
            <a:xfrm>
              <a:off x="12459240" y="279864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174 / 100 / 100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9" name="TextBox 6" hidden="1"/>
          <p:cNvSpPr/>
          <p:nvPr/>
        </p:nvSpPr>
        <p:spPr>
          <a:xfrm>
            <a:off x="12353760" y="3255480"/>
            <a:ext cx="164376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Пожалуйста,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используйте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цветовую гамму </a:t>
            </a:r>
            <a:br>
              <a:rPr sz="1400"/>
            </a:br>
            <a:r>
              <a:rPr b="1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«300 лет СПбГУ»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672840" y="2133720"/>
            <a:ext cx="11300760" cy="127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4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Образец заголовка</a:t>
            </a:r>
            <a:endParaRPr b="0" lang="ru-RU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664920" y="5434200"/>
            <a:ext cx="11309040" cy="50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ru-RU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Фамилия Имя Отчество автора презентации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body"/>
          </p:nvPr>
        </p:nvSpPr>
        <p:spPr>
          <a:xfrm>
            <a:off x="658800" y="5969160"/>
            <a:ext cx="11315160" cy="34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должность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Picture 2" descr="\\ad.pu.ru\RECTORAT\УСО\ДИЗАЙНЕРЫ\300 лет СПбГУ\300 лет логотипы все варианты\Logo 300 let classic white.png"/>
          <p:cNvPicPr/>
          <p:nvPr/>
        </p:nvPicPr>
        <p:blipFill>
          <a:blip r:embed="rId5"/>
          <a:stretch/>
        </p:blipFill>
        <p:spPr>
          <a:xfrm>
            <a:off x="1609560" y="436680"/>
            <a:ext cx="3772440" cy="115920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Рисунок 4" descr=""/>
          <p:cNvPicPr/>
          <p:nvPr/>
        </p:nvPicPr>
        <p:blipFill>
          <a:blip r:embed="rId2"/>
          <a:srcRect l="0" t="0" r="46262" b="0"/>
          <a:stretch/>
        </p:blipFill>
        <p:spPr>
          <a:xfrm>
            <a:off x="9877680" y="0"/>
            <a:ext cx="2313360" cy="68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" name="Рисунок 7" descr=""/>
          <p:cNvPicPr/>
          <p:nvPr/>
        </p:nvPicPr>
        <p:blipFill>
          <a:blip r:embed="rId3"/>
          <a:stretch/>
        </p:blipFill>
        <p:spPr>
          <a:xfrm>
            <a:off x="10708200" y="259560"/>
            <a:ext cx="1302840" cy="42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Прямоугольник 9"/>
          <p:cNvSpPr/>
          <p:nvPr/>
        </p:nvSpPr>
        <p:spPr>
          <a:xfrm flipV="1">
            <a:off x="11456280" y="6698160"/>
            <a:ext cx="734760" cy="67320"/>
          </a:xfrm>
          <a:prstGeom prst="rect">
            <a:avLst/>
          </a:prstGeom>
          <a:solidFill>
            <a:schemeClr val="accent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3040" bIns="23040" anchor="ctr">
            <a:noAutofit/>
          </a:bodyPr>
          <a:p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137" name="Группа 3"/>
          <p:cNvGrpSpPr/>
          <p:nvPr/>
        </p:nvGrpSpPr>
        <p:grpSpPr>
          <a:xfrm>
            <a:off x="12353760" y="159120"/>
            <a:ext cx="1102680" cy="2973240"/>
            <a:chOff x="12353760" y="159120"/>
            <a:chExt cx="1102680" cy="2973240"/>
          </a:xfrm>
        </p:grpSpPr>
        <p:sp>
          <p:nvSpPr>
            <p:cNvPr id="138" name="Прямоугольник: скругленные противолежащие углы 11"/>
            <p:cNvSpPr/>
            <p:nvPr/>
          </p:nvSpPr>
          <p:spPr>
            <a:xfrm>
              <a:off x="12353760" y="15912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1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39" name="TextBox 16"/>
            <p:cNvSpPr/>
            <p:nvPr/>
          </p:nvSpPr>
          <p:spPr>
            <a:xfrm>
              <a:off x="12459240" y="254520"/>
              <a:ext cx="892440" cy="21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175 / 44 / 34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Прямоугольник: скругленные противолежащие углы 27"/>
            <p:cNvSpPr/>
            <p:nvPr/>
          </p:nvSpPr>
          <p:spPr>
            <a:xfrm>
              <a:off x="12353760" y="67032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41" name="TextBox 28"/>
            <p:cNvSpPr/>
            <p:nvPr/>
          </p:nvSpPr>
          <p:spPr>
            <a:xfrm>
              <a:off x="12459240" y="766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200 / 160 / 110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Прямоугольник: скругленные противолежащие углы 29"/>
            <p:cNvSpPr/>
            <p:nvPr/>
          </p:nvSpPr>
          <p:spPr>
            <a:xfrm>
              <a:off x="12353760" y="1174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43" name="TextBox 30"/>
            <p:cNvSpPr/>
            <p:nvPr/>
          </p:nvSpPr>
          <p:spPr>
            <a:xfrm>
              <a:off x="12459240" y="1270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201 / 188 / 171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Прямоугольник: скругленные противолежащие углы 31"/>
            <p:cNvSpPr/>
            <p:nvPr/>
          </p:nvSpPr>
          <p:spPr>
            <a:xfrm>
              <a:off x="12353760" y="1678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3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45" name="TextBox 32"/>
            <p:cNvSpPr/>
            <p:nvPr/>
          </p:nvSpPr>
          <p:spPr>
            <a:xfrm>
              <a:off x="12459240" y="1774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135 / 135 / 135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Прямоугольник: скругленные противолежащие углы 33"/>
            <p:cNvSpPr/>
            <p:nvPr/>
          </p:nvSpPr>
          <p:spPr>
            <a:xfrm>
              <a:off x="12353760" y="2182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5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47" name="TextBox 34"/>
            <p:cNvSpPr/>
            <p:nvPr/>
          </p:nvSpPr>
          <p:spPr>
            <a:xfrm>
              <a:off x="12459240" y="2278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135 / 135 / 135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Прямоугольник: скругленные противолежащие углы 18"/>
            <p:cNvSpPr/>
            <p:nvPr/>
          </p:nvSpPr>
          <p:spPr>
            <a:xfrm>
              <a:off x="12353760" y="270324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6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49" name="TextBox 19"/>
            <p:cNvSpPr/>
            <p:nvPr/>
          </p:nvSpPr>
          <p:spPr>
            <a:xfrm>
              <a:off x="12459240" y="279864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174 / 100 / 100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0" name="TextBox 6"/>
          <p:cNvSpPr/>
          <p:nvPr/>
        </p:nvSpPr>
        <p:spPr>
          <a:xfrm>
            <a:off x="12353760" y="3255480"/>
            <a:ext cx="164376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Пожалуйста,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используйте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цветовую гамму </a:t>
            </a:r>
            <a:br>
              <a:rPr sz="1400"/>
            </a:br>
            <a:r>
              <a:rPr b="1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«300 лет СПбГУ»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60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Обложка раздела</a:t>
            </a:r>
            <a:br>
              <a:rPr sz="6000"/>
            </a:br>
            <a:r>
              <a:rPr b="1" lang="ru-RU" sz="60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Текст заголовка (60 </a:t>
            </a:r>
            <a:r>
              <a:rPr b="1" lang="en-US" sz="60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pt</a:t>
            </a:r>
            <a:r>
              <a:rPr b="1" lang="ru-RU" sz="60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)</a:t>
            </a:r>
            <a:endParaRPr b="0" lang="ru-RU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831960" y="4781520"/>
            <a:ext cx="10514880" cy="130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Подпись к заголовку если нужна (24 </a:t>
            </a:r>
            <a:r>
              <a:rPr b="0" lang="en-US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pt</a:t>
            </a:r>
            <a:r>
              <a:rPr b="0" lang="ru-RU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)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Рисунок 4" descr=""/>
          <p:cNvPicPr/>
          <p:nvPr/>
        </p:nvPicPr>
        <p:blipFill>
          <a:blip r:embed="rId2"/>
          <a:srcRect l="0" t="0" r="46262" b="0"/>
          <a:stretch/>
        </p:blipFill>
        <p:spPr>
          <a:xfrm>
            <a:off x="9877680" y="0"/>
            <a:ext cx="2313360" cy="68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" name="Рисунок 7" descr=""/>
          <p:cNvPicPr/>
          <p:nvPr/>
        </p:nvPicPr>
        <p:blipFill>
          <a:blip r:embed="rId3"/>
          <a:stretch/>
        </p:blipFill>
        <p:spPr>
          <a:xfrm>
            <a:off x="10708200" y="259560"/>
            <a:ext cx="1302840" cy="42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Прямоугольник 9"/>
          <p:cNvSpPr/>
          <p:nvPr/>
        </p:nvSpPr>
        <p:spPr>
          <a:xfrm flipV="1">
            <a:off x="11456280" y="6698160"/>
            <a:ext cx="734760" cy="67320"/>
          </a:xfrm>
          <a:prstGeom prst="rect">
            <a:avLst/>
          </a:prstGeom>
          <a:solidFill>
            <a:schemeClr val="accent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3040" bIns="23040" anchor="ctr">
            <a:noAutofit/>
          </a:bodyPr>
          <a:p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156" name="Группа 3"/>
          <p:cNvGrpSpPr/>
          <p:nvPr/>
        </p:nvGrpSpPr>
        <p:grpSpPr>
          <a:xfrm>
            <a:off x="12353760" y="159120"/>
            <a:ext cx="1102680" cy="2973240"/>
            <a:chOff x="12353760" y="159120"/>
            <a:chExt cx="1102680" cy="2973240"/>
          </a:xfrm>
        </p:grpSpPr>
        <p:sp>
          <p:nvSpPr>
            <p:cNvPr id="157" name="Прямоугольник: скругленные противолежащие углы 11"/>
            <p:cNvSpPr/>
            <p:nvPr/>
          </p:nvSpPr>
          <p:spPr>
            <a:xfrm>
              <a:off x="12353760" y="15912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1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58" name="TextBox 16"/>
            <p:cNvSpPr/>
            <p:nvPr/>
          </p:nvSpPr>
          <p:spPr>
            <a:xfrm>
              <a:off x="12459240" y="254520"/>
              <a:ext cx="892440" cy="21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175 / 44 / 34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Прямоугольник: скругленные противолежащие углы 27"/>
            <p:cNvSpPr/>
            <p:nvPr/>
          </p:nvSpPr>
          <p:spPr>
            <a:xfrm>
              <a:off x="12353760" y="67032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60" name="TextBox 28"/>
            <p:cNvSpPr/>
            <p:nvPr/>
          </p:nvSpPr>
          <p:spPr>
            <a:xfrm>
              <a:off x="12459240" y="766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200 / 160 / 110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Прямоугольник: скругленные противолежащие углы 29"/>
            <p:cNvSpPr/>
            <p:nvPr/>
          </p:nvSpPr>
          <p:spPr>
            <a:xfrm>
              <a:off x="12353760" y="1174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62" name="TextBox 30"/>
            <p:cNvSpPr/>
            <p:nvPr/>
          </p:nvSpPr>
          <p:spPr>
            <a:xfrm>
              <a:off x="12459240" y="1270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201 / 188 / 171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" name="Прямоугольник: скругленные противолежащие углы 31"/>
            <p:cNvSpPr/>
            <p:nvPr/>
          </p:nvSpPr>
          <p:spPr>
            <a:xfrm>
              <a:off x="12353760" y="1678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3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64" name="TextBox 32"/>
            <p:cNvSpPr/>
            <p:nvPr/>
          </p:nvSpPr>
          <p:spPr>
            <a:xfrm>
              <a:off x="12459240" y="1774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135 / 135 / 135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" name="Прямоугольник: скругленные противолежащие углы 33"/>
            <p:cNvSpPr/>
            <p:nvPr/>
          </p:nvSpPr>
          <p:spPr>
            <a:xfrm>
              <a:off x="12353760" y="2182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5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66" name="TextBox 34"/>
            <p:cNvSpPr/>
            <p:nvPr/>
          </p:nvSpPr>
          <p:spPr>
            <a:xfrm>
              <a:off x="12459240" y="2278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135 / 135 / 135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" name="Прямоугольник: скругленные противолежащие углы 18"/>
            <p:cNvSpPr/>
            <p:nvPr/>
          </p:nvSpPr>
          <p:spPr>
            <a:xfrm>
              <a:off x="12353760" y="270324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6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68" name="TextBox 19"/>
            <p:cNvSpPr/>
            <p:nvPr/>
          </p:nvSpPr>
          <p:spPr>
            <a:xfrm>
              <a:off x="12459240" y="279864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174 / 100 / 100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9" name="TextBox 6"/>
          <p:cNvSpPr/>
          <p:nvPr/>
        </p:nvSpPr>
        <p:spPr>
          <a:xfrm>
            <a:off x="12353760" y="3255480"/>
            <a:ext cx="164376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Пожалуйста,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используйте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цветовую гамму </a:t>
            </a:r>
            <a:br>
              <a:rPr sz="1400"/>
            </a:br>
            <a:r>
              <a:rPr b="1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«300 лет СПбГУ»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237960" y="159120"/>
            <a:ext cx="10303200" cy="82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Образец заголовка</a:t>
            </a:r>
            <a:br>
              <a:rPr sz="3200"/>
            </a:b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в две строки (32 </a:t>
            </a:r>
            <a:r>
              <a:rPr b="1" lang="en-US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pt</a:t>
            </a: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)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237960" y="1268280"/>
            <a:ext cx="11777040" cy="504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Образец текста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Второй уровень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9144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Третий уровень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3716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Четвертый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8288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Пятый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2"/>
          </p:nvPr>
        </p:nvSpPr>
        <p:spPr>
          <a:xfrm>
            <a:off x="11456280" y="6460560"/>
            <a:ext cx="662760" cy="23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DAD8350-68C1-40D7-AE84-828FEAC297B8}" type="slidenum">
              <a:rPr b="0" lang="ru-RU" sz="1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PlaceHolder 4"/>
          <p:cNvSpPr>
            <a:spLocks noGrp="1"/>
          </p:cNvSpPr>
          <p:nvPr>
            <p:ph type="body"/>
          </p:nvPr>
        </p:nvSpPr>
        <p:spPr>
          <a:xfrm>
            <a:off x="5519880" y="1268280"/>
            <a:ext cx="6454080" cy="504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Образец текста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Второй уровень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Третий уровень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Четвертый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Пятый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Рисунок 4" descr=""/>
          <p:cNvPicPr/>
          <p:nvPr/>
        </p:nvPicPr>
        <p:blipFill>
          <a:blip r:embed="rId2"/>
          <a:srcRect l="0" t="0" r="46262" b="0"/>
          <a:stretch/>
        </p:blipFill>
        <p:spPr>
          <a:xfrm>
            <a:off x="9877680" y="0"/>
            <a:ext cx="2313360" cy="68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5" name="Рисунок 7" descr=""/>
          <p:cNvPicPr/>
          <p:nvPr/>
        </p:nvPicPr>
        <p:blipFill>
          <a:blip r:embed="rId3"/>
          <a:stretch/>
        </p:blipFill>
        <p:spPr>
          <a:xfrm>
            <a:off x="10708200" y="259560"/>
            <a:ext cx="1302840" cy="42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Прямоугольник 9"/>
          <p:cNvSpPr/>
          <p:nvPr/>
        </p:nvSpPr>
        <p:spPr>
          <a:xfrm flipV="1">
            <a:off x="11456280" y="6698160"/>
            <a:ext cx="734760" cy="67320"/>
          </a:xfrm>
          <a:prstGeom prst="rect">
            <a:avLst/>
          </a:prstGeom>
          <a:solidFill>
            <a:schemeClr val="accent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3040" bIns="23040" anchor="ctr">
            <a:noAutofit/>
          </a:bodyPr>
          <a:p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177" name="Группа 3"/>
          <p:cNvGrpSpPr/>
          <p:nvPr/>
        </p:nvGrpSpPr>
        <p:grpSpPr>
          <a:xfrm>
            <a:off x="12353760" y="159120"/>
            <a:ext cx="1102680" cy="2973240"/>
            <a:chOff x="12353760" y="159120"/>
            <a:chExt cx="1102680" cy="2973240"/>
          </a:xfrm>
        </p:grpSpPr>
        <p:sp>
          <p:nvSpPr>
            <p:cNvPr id="178" name="Прямоугольник: скругленные противолежащие углы 11"/>
            <p:cNvSpPr/>
            <p:nvPr/>
          </p:nvSpPr>
          <p:spPr>
            <a:xfrm>
              <a:off x="12353760" y="15912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1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79" name="TextBox 16"/>
            <p:cNvSpPr/>
            <p:nvPr/>
          </p:nvSpPr>
          <p:spPr>
            <a:xfrm>
              <a:off x="12459240" y="254520"/>
              <a:ext cx="892440" cy="21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175 / 44 / 34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Прямоугольник: скругленные противолежащие углы 27"/>
            <p:cNvSpPr/>
            <p:nvPr/>
          </p:nvSpPr>
          <p:spPr>
            <a:xfrm>
              <a:off x="12353760" y="67032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81" name="TextBox 28"/>
            <p:cNvSpPr/>
            <p:nvPr/>
          </p:nvSpPr>
          <p:spPr>
            <a:xfrm>
              <a:off x="12459240" y="766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200 / 160 / 110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" name="Прямоугольник: скругленные противолежащие углы 29"/>
            <p:cNvSpPr/>
            <p:nvPr/>
          </p:nvSpPr>
          <p:spPr>
            <a:xfrm>
              <a:off x="12353760" y="1174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83" name="TextBox 30"/>
            <p:cNvSpPr/>
            <p:nvPr/>
          </p:nvSpPr>
          <p:spPr>
            <a:xfrm>
              <a:off x="12459240" y="1270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201 / 188 / 171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Прямоугольник: скругленные противолежащие углы 31"/>
            <p:cNvSpPr/>
            <p:nvPr/>
          </p:nvSpPr>
          <p:spPr>
            <a:xfrm>
              <a:off x="12353760" y="1678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3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85" name="TextBox 32"/>
            <p:cNvSpPr/>
            <p:nvPr/>
          </p:nvSpPr>
          <p:spPr>
            <a:xfrm>
              <a:off x="12459240" y="1774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135 / 135 / 135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" name="Прямоугольник: скругленные противолежащие углы 33"/>
            <p:cNvSpPr/>
            <p:nvPr/>
          </p:nvSpPr>
          <p:spPr>
            <a:xfrm>
              <a:off x="12353760" y="2182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5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87" name="TextBox 34"/>
            <p:cNvSpPr/>
            <p:nvPr/>
          </p:nvSpPr>
          <p:spPr>
            <a:xfrm>
              <a:off x="12459240" y="2278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135 / 135 / 135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Прямоугольник: скругленные противолежащие углы 18"/>
            <p:cNvSpPr/>
            <p:nvPr/>
          </p:nvSpPr>
          <p:spPr>
            <a:xfrm>
              <a:off x="12353760" y="270324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6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89" name="TextBox 19"/>
            <p:cNvSpPr/>
            <p:nvPr/>
          </p:nvSpPr>
          <p:spPr>
            <a:xfrm>
              <a:off x="12459240" y="279864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174 / 100 / 100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0" name="TextBox 6"/>
          <p:cNvSpPr/>
          <p:nvPr/>
        </p:nvSpPr>
        <p:spPr>
          <a:xfrm>
            <a:off x="12353760" y="3255480"/>
            <a:ext cx="164376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Пожалуйста,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используйте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цветовую гамму </a:t>
            </a:r>
            <a:br>
              <a:rPr sz="1400"/>
            </a:br>
            <a:r>
              <a:rPr b="1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«300 лет СПбГУ»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228600" y="165240"/>
            <a:ext cx="10257840" cy="81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Образец заголовка</a:t>
            </a:r>
            <a:r>
              <a:rPr b="1" lang="en-US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 </a:t>
            </a: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(32 </a:t>
            </a:r>
            <a:r>
              <a:rPr b="1" lang="en-US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pt</a:t>
            </a: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)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228600" y="984240"/>
            <a:ext cx="514296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ru-RU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Образец текста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body"/>
          </p:nvPr>
        </p:nvSpPr>
        <p:spPr>
          <a:xfrm>
            <a:off x="228600" y="1990800"/>
            <a:ext cx="5142960" cy="432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525252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Образец текста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525252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Второй уровень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525252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Третий уровень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525252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Четвертый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525252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Пятый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 type="body"/>
          </p:nvPr>
        </p:nvSpPr>
        <p:spPr>
          <a:xfrm>
            <a:off x="5519880" y="984240"/>
            <a:ext cx="645408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Образец текста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5"/>
          <p:cNvSpPr>
            <a:spLocks noGrp="1"/>
          </p:cNvSpPr>
          <p:nvPr>
            <p:ph type="body"/>
          </p:nvPr>
        </p:nvSpPr>
        <p:spPr>
          <a:xfrm>
            <a:off x="5519880" y="2000160"/>
            <a:ext cx="6454080" cy="431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525252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Образец текста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525252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Второй уровень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525252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Третий уровень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525252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Четвертый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525252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Пятый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6"/>
          <p:cNvSpPr>
            <a:spLocks noGrp="1"/>
          </p:cNvSpPr>
          <p:nvPr>
            <p:ph type="sldNum" idx="3"/>
          </p:nvPr>
        </p:nvSpPr>
        <p:spPr>
          <a:xfrm>
            <a:off x="11456280" y="6460560"/>
            <a:ext cx="662760" cy="23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818E682-6A72-4393-AC24-8D369AFE35F6}" type="slidenum">
              <a:rPr b="0" lang="ru-RU" sz="1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Рисунок 4" descr=""/>
          <p:cNvPicPr/>
          <p:nvPr/>
        </p:nvPicPr>
        <p:blipFill>
          <a:blip r:embed="rId2"/>
          <a:srcRect l="0" t="0" r="46262" b="0"/>
          <a:stretch/>
        </p:blipFill>
        <p:spPr>
          <a:xfrm>
            <a:off x="9877680" y="0"/>
            <a:ext cx="2313360" cy="68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8" name="Рисунок 7" descr=""/>
          <p:cNvPicPr/>
          <p:nvPr/>
        </p:nvPicPr>
        <p:blipFill>
          <a:blip r:embed="rId3"/>
          <a:stretch/>
        </p:blipFill>
        <p:spPr>
          <a:xfrm>
            <a:off x="10708200" y="259560"/>
            <a:ext cx="1302840" cy="42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9" name="Прямоугольник 9"/>
          <p:cNvSpPr/>
          <p:nvPr/>
        </p:nvSpPr>
        <p:spPr>
          <a:xfrm flipV="1">
            <a:off x="11456280" y="6698160"/>
            <a:ext cx="734760" cy="67320"/>
          </a:xfrm>
          <a:prstGeom prst="rect">
            <a:avLst/>
          </a:prstGeom>
          <a:solidFill>
            <a:schemeClr val="accent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3040" bIns="23040" anchor="ctr">
            <a:noAutofit/>
          </a:bodyPr>
          <a:p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200" name="Группа 3"/>
          <p:cNvGrpSpPr/>
          <p:nvPr/>
        </p:nvGrpSpPr>
        <p:grpSpPr>
          <a:xfrm>
            <a:off x="12353760" y="159120"/>
            <a:ext cx="1102680" cy="2973240"/>
            <a:chOff x="12353760" y="159120"/>
            <a:chExt cx="1102680" cy="2973240"/>
          </a:xfrm>
        </p:grpSpPr>
        <p:sp>
          <p:nvSpPr>
            <p:cNvPr id="201" name="Прямоугольник: скругленные противолежащие углы 11"/>
            <p:cNvSpPr/>
            <p:nvPr/>
          </p:nvSpPr>
          <p:spPr>
            <a:xfrm>
              <a:off x="12353760" y="15912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1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02" name="TextBox 16"/>
            <p:cNvSpPr/>
            <p:nvPr/>
          </p:nvSpPr>
          <p:spPr>
            <a:xfrm>
              <a:off x="12459240" y="254520"/>
              <a:ext cx="892440" cy="21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175 / 44 / 34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Прямоугольник: скругленные противолежащие углы 27"/>
            <p:cNvSpPr/>
            <p:nvPr/>
          </p:nvSpPr>
          <p:spPr>
            <a:xfrm>
              <a:off x="12353760" y="67032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04" name="TextBox 28"/>
            <p:cNvSpPr/>
            <p:nvPr/>
          </p:nvSpPr>
          <p:spPr>
            <a:xfrm>
              <a:off x="12459240" y="766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200 / 160 / 110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Прямоугольник: скругленные противолежащие углы 29"/>
            <p:cNvSpPr/>
            <p:nvPr/>
          </p:nvSpPr>
          <p:spPr>
            <a:xfrm>
              <a:off x="12353760" y="1174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06" name="TextBox 30"/>
            <p:cNvSpPr/>
            <p:nvPr/>
          </p:nvSpPr>
          <p:spPr>
            <a:xfrm>
              <a:off x="12459240" y="1270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201 / 188 / 171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Прямоугольник: скругленные противолежащие углы 31"/>
            <p:cNvSpPr/>
            <p:nvPr/>
          </p:nvSpPr>
          <p:spPr>
            <a:xfrm>
              <a:off x="12353760" y="1678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3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08" name="TextBox 32"/>
            <p:cNvSpPr/>
            <p:nvPr/>
          </p:nvSpPr>
          <p:spPr>
            <a:xfrm>
              <a:off x="12459240" y="1774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135 / 135 / 135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Прямоугольник: скругленные противолежащие углы 33"/>
            <p:cNvSpPr/>
            <p:nvPr/>
          </p:nvSpPr>
          <p:spPr>
            <a:xfrm>
              <a:off x="12353760" y="2182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5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10" name="TextBox 34"/>
            <p:cNvSpPr/>
            <p:nvPr/>
          </p:nvSpPr>
          <p:spPr>
            <a:xfrm>
              <a:off x="12459240" y="2278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135 / 135 / 135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Прямоугольник: скругленные противолежащие углы 18"/>
            <p:cNvSpPr/>
            <p:nvPr/>
          </p:nvSpPr>
          <p:spPr>
            <a:xfrm>
              <a:off x="12353760" y="270324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6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12" name="TextBox 19"/>
            <p:cNvSpPr/>
            <p:nvPr/>
          </p:nvSpPr>
          <p:spPr>
            <a:xfrm>
              <a:off x="12459240" y="279864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174 / 100 / 100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3" name="TextBox 6"/>
          <p:cNvSpPr/>
          <p:nvPr/>
        </p:nvSpPr>
        <p:spPr>
          <a:xfrm>
            <a:off x="12353760" y="3255480"/>
            <a:ext cx="164376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Пожалуйста,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используйте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цветовую гамму </a:t>
            </a:r>
            <a:br>
              <a:rPr sz="1400"/>
            </a:br>
            <a:r>
              <a:rPr b="1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«300 лет СПбГУ»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7300800" y="984240"/>
            <a:ext cx="4672800" cy="116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Образец заголовка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6819120" cy="685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>
                    <a:lumMod val="75000"/>
                  </a:schemeClr>
                </a:solidFill>
                <a:effectLst/>
                <a:uFillTx/>
                <a:latin typeface="Segoe UI"/>
              </a:rPr>
              <a:t>Для правки структуры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>
                    <a:lumMod val="75000"/>
                  </a:schemeClr>
                </a:solidFill>
                <a:effectLst/>
                <a:uFillTx/>
                <a:latin typeface="Segoe UI"/>
              </a:rPr>
              <a:t>Второй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>
                    <a:lumMod val="75000"/>
                  </a:schemeClr>
                </a:solidFill>
                <a:effectLst/>
                <a:uFillTx/>
                <a:latin typeface="Segoe UI"/>
              </a:rPr>
              <a:t>Третий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>
                    <a:lumMod val="75000"/>
                  </a:schemeClr>
                </a:solidFill>
                <a:effectLst/>
                <a:uFillTx/>
                <a:latin typeface="Segoe UI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>
                    <a:lumMod val="75000"/>
                  </a:schemeClr>
                </a:solidFill>
                <a:effectLst/>
                <a:uFillTx/>
                <a:latin typeface="Segoe UI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>
                    <a:lumMod val="75000"/>
                  </a:schemeClr>
                </a:solidFill>
                <a:effectLst/>
                <a:uFillTx/>
                <a:latin typeface="Segoe UI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>
                    <a:lumMod val="75000"/>
                  </a:schemeClr>
                </a:solidFill>
                <a:effectLst/>
                <a:uFillTx/>
                <a:latin typeface="Segoe UI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body"/>
          </p:nvPr>
        </p:nvSpPr>
        <p:spPr>
          <a:xfrm>
            <a:off x="7296120" y="2149560"/>
            <a:ext cx="4677480" cy="38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Образец текста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4"/>
          <p:cNvSpPr>
            <a:spLocks noGrp="1"/>
          </p:cNvSpPr>
          <p:nvPr>
            <p:ph type="sldNum" idx="4"/>
          </p:nvPr>
        </p:nvSpPr>
        <p:spPr>
          <a:xfrm>
            <a:off x="11456280" y="6460560"/>
            <a:ext cx="662760" cy="23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E2DE834-E92A-402F-8C16-7AC90123339E}" type="slidenum">
              <a:rPr b="0" lang="ru-RU" sz="1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Рисунок 4" descr=""/>
          <p:cNvPicPr/>
          <p:nvPr/>
        </p:nvPicPr>
        <p:blipFill>
          <a:blip r:embed="rId2"/>
          <a:srcRect l="0" t="0" r="46262" b="0"/>
          <a:stretch/>
        </p:blipFill>
        <p:spPr>
          <a:xfrm>
            <a:off x="9877680" y="0"/>
            <a:ext cx="2313360" cy="68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9" name="Рисунок 7" descr=""/>
          <p:cNvPicPr/>
          <p:nvPr/>
        </p:nvPicPr>
        <p:blipFill>
          <a:blip r:embed="rId3"/>
          <a:stretch/>
        </p:blipFill>
        <p:spPr>
          <a:xfrm>
            <a:off x="10708200" y="259560"/>
            <a:ext cx="1302840" cy="42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" name="Прямоугольник 9"/>
          <p:cNvSpPr/>
          <p:nvPr/>
        </p:nvSpPr>
        <p:spPr>
          <a:xfrm flipV="1">
            <a:off x="11456280" y="6698160"/>
            <a:ext cx="734760" cy="67320"/>
          </a:xfrm>
          <a:prstGeom prst="rect">
            <a:avLst/>
          </a:prstGeom>
          <a:solidFill>
            <a:schemeClr val="accent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3040" bIns="23040" anchor="ctr">
            <a:noAutofit/>
          </a:bodyPr>
          <a:p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221" name="Группа 3"/>
          <p:cNvGrpSpPr/>
          <p:nvPr/>
        </p:nvGrpSpPr>
        <p:grpSpPr>
          <a:xfrm>
            <a:off x="12353760" y="159120"/>
            <a:ext cx="1102680" cy="2973240"/>
            <a:chOff x="12353760" y="159120"/>
            <a:chExt cx="1102680" cy="2973240"/>
          </a:xfrm>
        </p:grpSpPr>
        <p:sp>
          <p:nvSpPr>
            <p:cNvPr id="222" name="Прямоугольник: скругленные противолежащие углы 11"/>
            <p:cNvSpPr/>
            <p:nvPr/>
          </p:nvSpPr>
          <p:spPr>
            <a:xfrm>
              <a:off x="12353760" y="15912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1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23" name="TextBox 16"/>
            <p:cNvSpPr/>
            <p:nvPr/>
          </p:nvSpPr>
          <p:spPr>
            <a:xfrm>
              <a:off x="12459240" y="254520"/>
              <a:ext cx="892440" cy="21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175 / 44 / 34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Прямоугольник: скругленные противолежащие углы 27"/>
            <p:cNvSpPr/>
            <p:nvPr/>
          </p:nvSpPr>
          <p:spPr>
            <a:xfrm>
              <a:off x="12353760" y="67032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25" name="TextBox 28"/>
            <p:cNvSpPr/>
            <p:nvPr/>
          </p:nvSpPr>
          <p:spPr>
            <a:xfrm>
              <a:off x="12459240" y="766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200 / 160 / 110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" name="Прямоугольник: скругленные противолежащие углы 29"/>
            <p:cNvSpPr/>
            <p:nvPr/>
          </p:nvSpPr>
          <p:spPr>
            <a:xfrm>
              <a:off x="12353760" y="1174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27" name="TextBox 30"/>
            <p:cNvSpPr/>
            <p:nvPr/>
          </p:nvSpPr>
          <p:spPr>
            <a:xfrm>
              <a:off x="12459240" y="1270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201 / 188 / 171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" name="Прямоугольник: скругленные противолежащие углы 31"/>
            <p:cNvSpPr/>
            <p:nvPr/>
          </p:nvSpPr>
          <p:spPr>
            <a:xfrm>
              <a:off x="12353760" y="1678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3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29" name="TextBox 32"/>
            <p:cNvSpPr/>
            <p:nvPr/>
          </p:nvSpPr>
          <p:spPr>
            <a:xfrm>
              <a:off x="12459240" y="1774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135 / 135 / 135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" name="Прямоугольник: скругленные противолежащие углы 33"/>
            <p:cNvSpPr/>
            <p:nvPr/>
          </p:nvSpPr>
          <p:spPr>
            <a:xfrm>
              <a:off x="12353760" y="2182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5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31" name="TextBox 34"/>
            <p:cNvSpPr/>
            <p:nvPr/>
          </p:nvSpPr>
          <p:spPr>
            <a:xfrm>
              <a:off x="12459240" y="2278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135 / 135 / 135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" name="Прямоугольник: скругленные противолежащие углы 18"/>
            <p:cNvSpPr/>
            <p:nvPr/>
          </p:nvSpPr>
          <p:spPr>
            <a:xfrm>
              <a:off x="12353760" y="270324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6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33" name="TextBox 19"/>
            <p:cNvSpPr/>
            <p:nvPr/>
          </p:nvSpPr>
          <p:spPr>
            <a:xfrm>
              <a:off x="12459240" y="279864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174 / 100 / 100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4" name="TextBox 6"/>
          <p:cNvSpPr/>
          <p:nvPr/>
        </p:nvSpPr>
        <p:spPr>
          <a:xfrm>
            <a:off x="12353760" y="3255480"/>
            <a:ext cx="164376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Пожалуйста,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используйте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цветовую гамму </a:t>
            </a:r>
            <a:br>
              <a:rPr sz="1400"/>
            </a:br>
            <a:r>
              <a:rPr b="1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«300 лет СПбГУ»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1"/>
          <p:cNvSpPr>
            <a:spLocks noGrp="1"/>
          </p:cNvSpPr>
          <p:nvPr>
            <p:ph type="sldNum" idx="5"/>
          </p:nvPr>
        </p:nvSpPr>
        <p:spPr>
          <a:xfrm>
            <a:off x="11456280" y="6460560"/>
            <a:ext cx="662760" cy="23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98FEE4C-0E96-4AA9-A488-0A31509C8EB6}" type="slidenum">
              <a:rPr b="0" lang="ru-RU" sz="1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Рисунок 4" descr=""/>
          <p:cNvPicPr/>
          <p:nvPr/>
        </p:nvPicPr>
        <p:blipFill>
          <a:blip r:embed="rId2"/>
          <a:srcRect l="0" t="0" r="46262" b="0"/>
          <a:stretch/>
        </p:blipFill>
        <p:spPr>
          <a:xfrm>
            <a:off x="9877680" y="0"/>
            <a:ext cx="2313360" cy="68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7" name="Рисунок 7" descr=""/>
          <p:cNvPicPr/>
          <p:nvPr/>
        </p:nvPicPr>
        <p:blipFill>
          <a:blip r:embed="rId3"/>
          <a:stretch/>
        </p:blipFill>
        <p:spPr>
          <a:xfrm>
            <a:off x="10708200" y="259560"/>
            <a:ext cx="1302840" cy="42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" name="Прямоугольник 9"/>
          <p:cNvSpPr/>
          <p:nvPr/>
        </p:nvSpPr>
        <p:spPr>
          <a:xfrm flipV="1">
            <a:off x="11456280" y="6698160"/>
            <a:ext cx="734760" cy="67320"/>
          </a:xfrm>
          <a:prstGeom prst="rect">
            <a:avLst/>
          </a:prstGeom>
          <a:solidFill>
            <a:schemeClr val="accent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3040" bIns="23040" anchor="ctr">
            <a:noAutofit/>
          </a:bodyPr>
          <a:p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239" name="Группа 3"/>
          <p:cNvGrpSpPr/>
          <p:nvPr/>
        </p:nvGrpSpPr>
        <p:grpSpPr>
          <a:xfrm>
            <a:off x="12353760" y="159120"/>
            <a:ext cx="1102680" cy="2973240"/>
            <a:chOff x="12353760" y="159120"/>
            <a:chExt cx="1102680" cy="2973240"/>
          </a:xfrm>
        </p:grpSpPr>
        <p:sp>
          <p:nvSpPr>
            <p:cNvPr id="240" name="Прямоугольник: скругленные противолежащие углы 11"/>
            <p:cNvSpPr/>
            <p:nvPr/>
          </p:nvSpPr>
          <p:spPr>
            <a:xfrm>
              <a:off x="12353760" y="15912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1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41" name="TextBox 16"/>
            <p:cNvSpPr/>
            <p:nvPr/>
          </p:nvSpPr>
          <p:spPr>
            <a:xfrm>
              <a:off x="12459240" y="254520"/>
              <a:ext cx="892440" cy="21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175 / 44 / 34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" name="Прямоугольник: скругленные противолежащие углы 27"/>
            <p:cNvSpPr/>
            <p:nvPr/>
          </p:nvSpPr>
          <p:spPr>
            <a:xfrm>
              <a:off x="12353760" y="67032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43" name="TextBox 28"/>
            <p:cNvSpPr/>
            <p:nvPr/>
          </p:nvSpPr>
          <p:spPr>
            <a:xfrm>
              <a:off x="12459240" y="766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200 / 160 / 110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" name="Прямоугольник: скругленные противолежащие углы 29"/>
            <p:cNvSpPr/>
            <p:nvPr/>
          </p:nvSpPr>
          <p:spPr>
            <a:xfrm>
              <a:off x="12353760" y="1174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45" name="TextBox 30"/>
            <p:cNvSpPr/>
            <p:nvPr/>
          </p:nvSpPr>
          <p:spPr>
            <a:xfrm>
              <a:off x="12459240" y="1270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201 / 188 / 171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Прямоугольник: скругленные противолежащие углы 31"/>
            <p:cNvSpPr/>
            <p:nvPr/>
          </p:nvSpPr>
          <p:spPr>
            <a:xfrm>
              <a:off x="12353760" y="1678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3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47" name="TextBox 32"/>
            <p:cNvSpPr/>
            <p:nvPr/>
          </p:nvSpPr>
          <p:spPr>
            <a:xfrm>
              <a:off x="12459240" y="1774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135 / 135 / 135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8" name="Прямоугольник: скругленные противолежащие углы 33"/>
            <p:cNvSpPr/>
            <p:nvPr/>
          </p:nvSpPr>
          <p:spPr>
            <a:xfrm>
              <a:off x="12353760" y="2182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5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49" name="TextBox 34"/>
            <p:cNvSpPr/>
            <p:nvPr/>
          </p:nvSpPr>
          <p:spPr>
            <a:xfrm>
              <a:off x="12459240" y="2278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135 / 135 / 135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Прямоугольник: скругленные противолежащие углы 18"/>
            <p:cNvSpPr/>
            <p:nvPr/>
          </p:nvSpPr>
          <p:spPr>
            <a:xfrm>
              <a:off x="12353760" y="270324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6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51" name="TextBox 19"/>
            <p:cNvSpPr/>
            <p:nvPr/>
          </p:nvSpPr>
          <p:spPr>
            <a:xfrm>
              <a:off x="12459240" y="279864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174 / 100 / 100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2" name="TextBox 6"/>
          <p:cNvSpPr/>
          <p:nvPr/>
        </p:nvSpPr>
        <p:spPr>
          <a:xfrm>
            <a:off x="12353760" y="3255480"/>
            <a:ext cx="164376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Пожалуйста,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используйте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цветовую гамму </a:t>
            </a:r>
            <a:br>
              <a:rPr sz="1400"/>
            </a:br>
            <a:r>
              <a:rPr b="1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«300 лет СПбГУ»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237960" y="159120"/>
            <a:ext cx="10303200" cy="82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Образец заголовка</a:t>
            </a:r>
            <a:br>
              <a:rPr sz="3200"/>
            </a:b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в две строки (32 </a:t>
            </a:r>
            <a:r>
              <a:rPr b="1" lang="en-US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pt</a:t>
            </a: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)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237960" y="1268280"/>
            <a:ext cx="11777040" cy="504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Образец текста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Второй уровень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9144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Третий уровень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3716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Четвертый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8288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Пятый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6"/>
          </p:nvPr>
        </p:nvSpPr>
        <p:spPr>
          <a:xfrm>
            <a:off x="11456280" y="6460560"/>
            <a:ext cx="662760" cy="23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A8F8156-E183-46CE-B8F2-507A6477C1C1}" type="slidenum">
              <a:rPr b="0" lang="ru-RU" sz="1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PlaceHolder 4"/>
          <p:cNvSpPr>
            <a:spLocks noGrp="1"/>
          </p:cNvSpPr>
          <p:nvPr>
            <p:ph type="body"/>
          </p:nvPr>
        </p:nvSpPr>
        <p:spPr>
          <a:xfrm>
            <a:off x="5519880" y="1268280"/>
            <a:ext cx="6454080" cy="504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Образец текста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Второй уровень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Третий уровень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Четвертый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Пятый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4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Рисунок 4" descr=""/>
          <p:cNvPicPr/>
          <p:nvPr/>
        </p:nvPicPr>
        <p:blipFill>
          <a:blip r:embed="rId2"/>
          <a:srcRect l="0" t="0" r="46262" b="0"/>
          <a:stretch/>
        </p:blipFill>
        <p:spPr>
          <a:xfrm>
            <a:off x="9877680" y="0"/>
            <a:ext cx="2313360" cy="68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8" name="Рисунок 7" descr=""/>
          <p:cNvPicPr/>
          <p:nvPr/>
        </p:nvPicPr>
        <p:blipFill>
          <a:blip r:embed="rId3"/>
          <a:stretch/>
        </p:blipFill>
        <p:spPr>
          <a:xfrm>
            <a:off x="10708200" y="259560"/>
            <a:ext cx="1302840" cy="42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9" name="Прямоугольник 9"/>
          <p:cNvSpPr/>
          <p:nvPr/>
        </p:nvSpPr>
        <p:spPr>
          <a:xfrm flipV="1">
            <a:off x="11456280" y="6698160"/>
            <a:ext cx="734760" cy="67320"/>
          </a:xfrm>
          <a:prstGeom prst="rect">
            <a:avLst/>
          </a:prstGeom>
          <a:solidFill>
            <a:schemeClr val="accent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3040" bIns="23040" anchor="ctr">
            <a:noAutofit/>
          </a:bodyPr>
          <a:p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260" name="Группа 3"/>
          <p:cNvGrpSpPr/>
          <p:nvPr/>
        </p:nvGrpSpPr>
        <p:grpSpPr>
          <a:xfrm>
            <a:off x="12353760" y="159120"/>
            <a:ext cx="1102680" cy="2973240"/>
            <a:chOff x="12353760" y="159120"/>
            <a:chExt cx="1102680" cy="2973240"/>
          </a:xfrm>
        </p:grpSpPr>
        <p:sp>
          <p:nvSpPr>
            <p:cNvPr id="261" name="Прямоугольник: скругленные противолежащие углы 11"/>
            <p:cNvSpPr/>
            <p:nvPr/>
          </p:nvSpPr>
          <p:spPr>
            <a:xfrm>
              <a:off x="12353760" y="15912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1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62" name="TextBox 16"/>
            <p:cNvSpPr/>
            <p:nvPr/>
          </p:nvSpPr>
          <p:spPr>
            <a:xfrm>
              <a:off x="12459240" y="254520"/>
              <a:ext cx="892440" cy="21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175 / 44 / 34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3" name="Прямоугольник: скругленные противолежащие углы 27"/>
            <p:cNvSpPr/>
            <p:nvPr/>
          </p:nvSpPr>
          <p:spPr>
            <a:xfrm>
              <a:off x="12353760" y="67032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64" name="TextBox 28"/>
            <p:cNvSpPr/>
            <p:nvPr/>
          </p:nvSpPr>
          <p:spPr>
            <a:xfrm>
              <a:off x="12459240" y="766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200 / 160 / 110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5" name="Прямоугольник: скругленные противолежащие углы 29"/>
            <p:cNvSpPr/>
            <p:nvPr/>
          </p:nvSpPr>
          <p:spPr>
            <a:xfrm>
              <a:off x="12353760" y="1174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66" name="TextBox 30"/>
            <p:cNvSpPr/>
            <p:nvPr/>
          </p:nvSpPr>
          <p:spPr>
            <a:xfrm>
              <a:off x="12459240" y="1270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201 / 188 / 171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7" name="Прямоугольник: скругленные противолежащие углы 31"/>
            <p:cNvSpPr/>
            <p:nvPr/>
          </p:nvSpPr>
          <p:spPr>
            <a:xfrm>
              <a:off x="12353760" y="1678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3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68" name="TextBox 32"/>
            <p:cNvSpPr/>
            <p:nvPr/>
          </p:nvSpPr>
          <p:spPr>
            <a:xfrm>
              <a:off x="12459240" y="1774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135 / 135 / 135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9" name="Прямоугольник: скругленные противолежащие углы 33"/>
            <p:cNvSpPr/>
            <p:nvPr/>
          </p:nvSpPr>
          <p:spPr>
            <a:xfrm>
              <a:off x="12353760" y="2182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5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70" name="TextBox 34"/>
            <p:cNvSpPr/>
            <p:nvPr/>
          </p:nvSpPr>
          <p:spPr>
            <a:xfrm>
              <a:off x="12459240" y="2278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135 / 135 / 135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" name="Прямоугольник: скругленные противолежащие углы 18"/>
            <p:cNvSpPr/>
            <p:nvPr/>
          </p:nvSpPr>
          <p:spPr>
            <a:xfrm>
              <a:off x="12353760" y="270324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6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72" name="TextBox 19"/>
            <p:cNvSpPr/>
            <p:nvPr/>
          </p:nvSpPr>
          <p:spPr>
            <a:xfrm>
              <a:off x="12459240" y="279864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174 / 100 / 100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3" name="TextBox 6"/>
          <p:cNvSpPr/>
          <p:nvPr/>
        </p:nvSpPr>
        <p:spPr>
          <a:xfrm>
            <a:off x="12353760" y="3255480"/>
            <a:ext cx="164376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Пожалуйста,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используйте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цветовую гамму </a:t>
            </a:r>
            <a:br>
              <a:rPr sz="1400"/>
            </a:br>
            <a:r>
              <a:rPr b="1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«300 лет СПбГУ»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237960" y="159120"/>
            <a:ext cx="10303200" cy="82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Образец заголовка</a:t>
            </a:r>
            <a:br>
              <a:rPr sz="3200"/>
            </a:b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в две строки (32 </a:t>
            </a:r>
            <a:r>
              <a:rPr b="1" lang="en-US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pt</a:t>
            </a: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)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237960" y="1268280"/>
            <a:ext cx="11777040" cy="504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Образец текста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Второй уровень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9144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Третий уровень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3716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Четвертый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8288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Пятый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7"/>
          </p:nvPr>
        </p:nvSpPr>
        <p:spPr>
          <a:xfrm>
            <a:off x="11456280" y="6460560"/>
            <a:ext cx="662760" cy="23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AE0FA0A-9634-463D-9FDB-80F951B5C47C}" type="slidenum">
              <a:rPr b="0" lang="ru-RU" sz="1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PlaceHolder 4"/>
          <p:cNvSpPr>
            <a:spLocks noGrp="1"/>
          </p:cNvSpPr>
          <p:nvPr>
            <p:ph type="body"/>
          </p:nvPr>
        </p:nvSpPr>
        <p:spPr>
          <a:xfrm>
            <a:off x="5519880" y="1268280"/>
            <a:ext cx="6454080" cy="504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Образец текста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Второй уровень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Третий уровень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Четвертый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Пятый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4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Рисунок 4" descr=""/>
          <p:cNvPicPr/>
          <p:nvPr/>
        </p:nvPicPr>
        <p:blipFill>
          <a:blip r:embed="rId2"/>
          <a:srcRect l="0" t="0" r="46262" b="0"/>
          <a:stretch/>
        </p:blipFill>
        <p:spPr>
          <a:xfrm>
            <a:off x="9877680" y="0"/>
            <a:ext cx="2313360" cy="68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9" name="Рисунок 7" descr=""/>
          <p:cNvPicPr/>
          <p:nvPr/>
        </p:nvPicPr>
        <p:blipFill>
          <a:blip r:embed="rId3"/>
          <a:stretch/>
        </p:blipFill>
        <p:spPr>
          <a:xfrm>
            <a:off x="10708200" y="259560"/>
            <a:ext cx="1302840" cy="42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0" name="Прямоугольник 9"/>
          <p:cNvSpPr/>
          <p:nvPr/>
        </p:nvSpPr>
        <p:spPr>
          <a:xfrm flipV="1">
            <a:off x="11456280" y="6698160"/>
            <a:ext cx="734760" cy="67320"/>
          </a:xfrm>
          <a:prstGeom prst="rect">
            <a:avLst/>
          </a:prstGeom>
          <a:solidFill>
            <a:schemeClr val="accent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3040" bIns="23040" anchor="ctr">
            <a:noAutofit/>
          </a:bodyPr>
          <a:p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281" name="Группа 3"/>
          <p:cNvGrpSpPr/>
          <p:nvPr/>
        </p:nvGrpSpPr>
        <p:grpSpPr>
          <a:xfrm>
            <a:off x="12353760" y="159120"/>
            <a:ext cx="1102680" cy="2973240"/>
            <a:chOff x="12353760" y="159120"/>
            <a:chExt cx="1102680" cy="2973240"/>
          </a:xfrm>
        </p:grpSpPr>
        <p:sp>
          <p:nvSpPr>
            <p:cNvPr id="282" name="Прямоугольник: скругленные противолежащие углы 11"/>
            <p:cNvSpPr/>
            <p:nvPr/>
          </p:nvSpPr>
          <p:spPr>
            <a:xfrm>
              <a:off x="12353760" y="15912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1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83" name="TextBox 16"/>
            <p:cNvSpPr/>
            <p:nvPr/>
          </p:nvSpPr>
          <p:spPr>
            <a:xfrm>
              <a:off x="12459240" y="254520"/>
              <a:ext cx="892440" cy="21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175 / 44 / 34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4" name="Прямоугольник: скругленные противолежащие углы 27"/>
            <p:cNvSpPr/>
            <p:nvPr/>
          </p:nvSpPr>
          <p:spPr>
            <a:xfrm>
              <a:off x="12353760" y="67032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85" name="TextBox 28"/>
            <p:cNvSpPr/>
            <p:nvPr/>
          </p:nvSpPr>
          <p:spPr>
            <a:xfrm>
              <a:off x="12459240" y="766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200 / 160 / 110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6" name="Прямоугольник: скругленные противолежащие углы 29"/>
            <p:cNvSpPr/>
            <p:nvPr/>
          </p:nvSpPr>
          <p:spPr>
            <a:xfrm>
              <a:off x="12353760" y="1174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87" name="TextBox 30"/>
            <p:cNvSpPr/>
            <p:nvPr/>
          </p:nvSpPr>
          <p:spPr>
            <a:xfrm>
              <a:off x="12459240" y="1270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201 / 188 / 171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" name="Прямоугольник: скругленные противолежащие углы 31"/>
            <p:cNvSpPr/>
            <p:nvPr/>
          </p:nvSpPr>
          <p:spPr>
            <a:xfrm>
              <a:off x="12353760" y="1678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3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89" name="TextBox 32"/>
            <p:cNvSpPr/>
            <p:nvPr/>
          </p:nvSpPr>
          <p:spPr>
            <a:xfrm>
              <a:off x="12459240" y="1774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135 / 135 / 135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0" name="Прямоугольник: скругленные противолежащие углы 33"/>
            <p:cNvSpPr/>
            <p:nvPr/>
          </p:nvSpPr>
          <p:spPr>
            <a:xfrm>
              <a:off x="12353760" y="2182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5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91" name="TextBox 34"/>
            <p:cNvSpPr/>
            <p:nvPr/>
          </p:nvSpPr>
          <p:spPr>
            <a:xfrm>
              <a:off x="12459240" y="2278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135 / 135 / 135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Прямоугольник: скругленные противолежащие углы 18"/>
            <p:cNvSpPr/>
            <p:nvPr/>
          </p:nvSpPr>
          <p:spPr>
            <a:xfrm>
              <a:off x="12353760" y="270324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6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93" name="TextBox 19"/>
            <p:cNvSpPr/>
            <p:nvPr/>
          </p:nvSpPr>
          <p:spPr>
            <a:xfrm>
              <a:off x="12459240" y="279864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174 / 100 / 100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4" name="TextBox 6"/>
          <p:cNvSpPr/>
          <p:nvPr/>
        </p:nvSpPr>
        <p:spPr>
          <a:xfrm>
            <a:off x="12353760" y="3255480"/>
            <a:ext cx="164376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Пожалуйста,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используйте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цветовую гамму </a:t>
            </a:r>
            <a:br>
              <a:rPr sz="1400"/>
            </a:br>
            <a:r>
              <a:rPr b="1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«300 лет СПбГУ»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237960" y="159120"/>
            <a:ext cx="10303200" cy="82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Образец заголовка</a:t>
            </a:r>
            <a:br>
              <a:rPr sz="3200"/>
            </a:b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в две строки (32 </a:t>
            </a:r>
            <a:r>
              <a:rPr b="1" lang="en-US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pt</a:t>
            </a: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)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237960" y="1268280"/>
            <a:ext cx="11777040" cy="504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Образец текста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Второй уровень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9144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Третий уровень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3716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Четвертый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8288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Пятый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8"/>
          </p:nvPr>
        </p:nvSpPr>
        <p:spPr>
          <a:xfrm>
            <a:off x="11456280" y="6460560"/>
            <a:ext cx="662760" cy="23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C00154D-D5FC-477B-A66A-BB345DDAC668}" type="slidenum">
              <a:rPr b="0" lang="ru-RU" sz="1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PlaceHolder 4"/>
          <p:cNvSpPr>
            <a:spLocks noGrp="1"/>
          </p:cNvSpPr>
          <p:nvPr>
            <p:ph type="body"/>
          </p:nvPr>
        </p:nvSpPr>
        <p:spPr>
          <a:xfrm>
            <a:off x="5519880" y="1268280"/>
            <a:ext cx="6454080" cy="504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Образец текста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Второй уровень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Третий уровень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Четвертый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Пятый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4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Рисунок 4" descr=""/>
          <p:cNvPicPr/>
          <p:nvPr/>
        </p:nvPicPr>
        <p:blipFill>
          <a:blip r:embed="rId2"/>
          <a:srcRect l="0" t="0" r="46262" b="0"/>
          <a:stretch/>
        </p:blipFill>
        <p:spPr>
          <a:xfrm>
            <a:off x="9877680" y="0"/>
            <a:ext cx="2313360" cy="68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0" name="Рисунок 7" descr=""/>
          <p:cNvPicPr/>
          <p:nvPr/>
        </p:nvPicPr>
        <p:blipFill>
          <a:blip r:embed="rId3"/>
          <a:stretch/>
        </p:blipFill>
        <p:spPr>
          <a:xfrm>
            <a:off x="10708200" y="259560"/>
            <a:ext cx="1302840" cy="42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1" name="Прямоугольник 9"/>
          <p:cNvSpPr/>
          <p:nvPr/>
        </p:nvSpPr>
        <p:spPr>
          <a:xfrm flipV="1">
            <a:off x="11456280" y="6698160"/>
            <a:ext cx="734760" cy="67320"/>
          </a:xfrm>
          <a:prstGeom prst="rect">
            <a:avLst/>
          </a:prstGeom>
          <a:solidFill>
            <a:schemeClr val="accent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3040" bIns="23040" anchor="ctr">
            <a:noAutofit/>
          </a:bodyPr>
          <a:p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302" name="Группа 3"/>
          <p:cNvGrpSpPr/>
          <p:nvPr/>
        </p:nvGrpSpPr>
        <p:grpSpPr>
          <a:xfrm>
            <a:off x="12353760" y="159120"/>
            <a:ext cx="1102680" cy="2973240"/>
            <a:chOff x="12353760" y="159120"/>
            <a:chExt cx="1102680" cy="2973240"/>
          </a:xfrm>
        </p:grpSpPr>
        <p:sp>
          <p:nvSpPr>
            <p:cNvPr id="303" name="Прямоугольник: скругленные противолежащие углы 11"/>
            <p:cNvSpPr/>
            <p:nvPr/>
          </p:nvSpPr>
          <p:spPr>
            <a:xfrm>
              <a:off x="12353760" y="15912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1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04" name="TextBox 16"/>
            <p:cNvSpPr/>
            <p:nvPr/>
          </p:nvSpPr>
          <p:spPr>
            <a:xfrm>
              <a:off x="12459240" y="254520"/>
              <a:ext cx="892440" cy="21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175 / 44 / 34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5" name="Прямоугольник: скругленные противолежащие углы 27"/>
            <p:cNvSpPr/>
            <p:nvPr/>
          </p:nvSpPr>
          <p:spPr>
            <a:xfrm>
              <a:off x="12353760" y="67032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06" name="TextBox 28"/>
            <p:cNvSpPr/>
            <p:nvPr/>
          </p:nvSpPr>
          <p:spPr>
            <a:xfrm>
              <a:off x="12459240" y="766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200 / 160 / 110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7" name="Прямоугольник: скругленные противолежащие углы 29"/>
            <p:cNvSpPr/>
            <p:nvPr/>
          </p:nvSpPr>
          <p:spPr>
            <a:xfrm>
              <a:off x="12353760" y="1174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08" name="TextBox 30"/>
            <p:cNvSpPr/>
            <p:nvPr/>
          </p:nvSpPr>
          <p:spPr>
            <a:xfrm>
              <a:off x="12459240" y="1270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201 / 188 / 171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9" name="Прямоугольник: скругленные противолежащие углы 31"/>
            <p:cNvSpPr/>
            <p:nvPr/>
          </p:nvSpPr>
          <p:spPr>
            <a:xfrm>
              <a:off x="12353760" y="1678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3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10" name="TextBox 32"/>
            <p:cNvSpPr/>
            <p:nvPr/>
          </p:nvSpPr>
          <p:spPr>
            <a:xfrm>
              <a:off x="12459240" y="1774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135 / 135 / 135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1" name="Прямоугольник: скругленные противолежащие углы 33"/>
            <p:cNvSpPr/>
            <p:nvPr/>
          </p:nvSpPr>
          <p:spPr>
            <a:xfrm>
              <a:off x="12353760" y="2182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5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12" name="TextBox 34"/>
            <p:cNvSpPr/>
            <p:nvPr/>
          </p:nvSpPr>
          <p:spPr>
            <a:xfrm>
              <a:off x="12459240" y="2278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135 / 135 / 135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3" name="Прямоугольник: скругленные противолежащие углы 18"/>
            <p:cNvSpPr/>
            <p:nvPr/>
          </p:nvSpPr>
          <p:spPr>
            <a:xfrm>
              <a:off x="12353760" y="270324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6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14" name="TextBox 19"/>
            <p:cNvSpPr/>
            <p:nvPr/>
          </p:nvSpPr>
          <p:spPr>
            <a:xfrm>
              <a:off x="12459240" y="279864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174 / 100 / 100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15" name="TextBox 6"/>
          <p:cNvSpPr/>
          <p:nvPr/>
        </p:nvSpPr>
        <p:spPr>
          <a:xfrm>
            <a:off x="12353760" y="3255480"/>
            <a:ext cx="164376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Пожалуйста,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используйте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цветовую гамму </a:t>
            </a:r>
            <a:br>
              <a:rPr sz="1400"/>
            </a:br>
            <a:r>
              <a:rPr b="1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«300 лет СПбГУ»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237960" y="159120"/>
            <a:ext cx="10303200" cy="82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Образец заголовка</a:t>
            </a:r>
            <a:br>
              <a:rPr sz="3200"/>
            </a:b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в две строки (32 </a:t>
            </a:r>
            <a:r>
              <a:rPr b="1" lang="en-US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pt</a:t>
            </a: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)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237960" y="1268280"/>
            <a:ext cx="11777040" cy="504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Образец текста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Второй уровень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9144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Третий уровень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3716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Четвертый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8288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Пятый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9"/>
          </p:nvPr>
        </p:nvSpPr>
        <p:spPr>
          <a:xfrm>
            <a:off x="11456280" y="6460560"/>
            <a:ext cx="662760" cy="23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30E87C5-F754-4180-9418-F6C5AE86FF87}" type="slidenum">
              <a:rPr b="0" lang="ru-RU" sz="1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PlaceHolder 4"/>
          <p:cNvSpPr>
            <a:spLocks noGrp="1"/>
          </p:cNvSpPr>
          <p:nvPr>
            <p:ph type="body"/>
          </p:nvPr>
        </p:nvSpPr>
        <p:spPr>
          <a:xfrm>
            <a:off x="5519880" y="1268280"/>
            <a:ext cx="6454080" cy="504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Образец текста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Второй уровень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Третий уровень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Четвертый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Пятый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4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Рисунок 4" descr=""/>
          <p:cNvPicPr/>
          <p:nvPr/>
        </p:nvPicPr>
        <p:blipFill>
          <a:blip r:embed="rId2"/>
          <a:srcRect l="0" t="0" r="46262" b="0"/>
          <a:stretch/>
        </p:blipFill>
        <p:spPr>
          <a:xfrm>
            <a:off x="9877680" y="0"/>
            <a:ext cx="2313360" cy="68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1" name="Рисунок 7" descr=""/>
          <p:cNvPicPr/>
          <p:nvPr/>
        </p:nvPicPr>
        <p:blipFill>
          <a:blip r:embed="rId3"/>
          <a:stretch/>
        </p:blipFill>
        <p:spPr>
          <a:xfrm>
            <a:off x="10708200" y="259560"/>
            <a:ext cx="1302840" cy="42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2" name="Прямоугольник 9"/>
          <p:cNvSpPr/>
          <p:nvPr/>
        </p:nvSpPr>
        <p:spPr>
          <a:xfrm flipV="1">
            <a:off x="11456280" y="6698160"/>
            <a:ext cx="734760" cy="67320"/>
          </a:xfrm>
          <a:prstGeom prst="rect">
            <a:avLst/>
          </a:prstGeom>
          <a:solidFill>
            <a:schemeClr val="accent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3040" bIns="23040" anchor="ctr">
            <a:noAutofit/>
          </a:bodyPr>
          <a:p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323" name="Группа 3"/>
          <p:cNvGrpSpPr/>
          <p:nvPr/>
        </p:nvGrpSpPr>
        <p:grpSpPr>
          <a:xfrm>
            <a:off x="12353760" y="159120"/>
            <a:ext cx="1102680" cy="2973240"/>
            <a:chOff x="12353760" y="159120"/>
            <a:chExt cx="1102680" cy="2973240"/>
          </a:xfrm>
        </p:grpSpPr>
        <p:sp>
          <p:nvSpPr>
            <p:cNvPr id="324" name="Прямоугольник: скругленные противолежащие углы 11"/>
            <p:cNvSpPr/>
            <p:nvPr/>
          </p:nvSpPr>
          <p:spPr>
            <a:xfrm>
              <a:off x="12353760" y="15912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1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25" name="TextBox 16"/>
            <p:cNvSpPr/>
            <p:nvPr/>
          </p:nvSpPr>
          <p:spPr>
            <a:xfrm>
              <a:off x="12459240" y="254520"/>
              <a:ext cx="892440" cy="21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175 / 44 / 34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6" name="Прямоугольник: скругленные противолежащие углы 27"/>
            <p:cNvSpPr/>
            <p:nvPr/>
          </p:nvSpPr>
          <p:spPr>
            <a:xfrm>
              <a:off x="12353760" y="67032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27" name="TextBox 28"/>
            <p:cNvSpPr/>
            <p:nvPr/>
          </p:nvSpPr>
          <p:spPr>
            <a:xfrm>
              <a:off x="12459240" y="766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200 / 160 / 110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8" name="Прямоугольник: скругленные противолежащие углы 29"/>
            <p:cNvSpPr/>
            <p:nvPr/>
          </p:nvSpPr>
          <p:spPr>
            <a:xfrm>
              <a:off x="12353760" y="1174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29" name="TextBox 30"/>
            <p:cNvSpPr/>
            <p:nvPr/>
          </p:nvSpPr>
          <p:spPr>
            <a:xfrm>
              <a:off x="12459240" y="1270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201 / 188 / 171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0" name="Прямоугольник: скругленные противолежащие углы 31"/>
            <p:cNvSpPr/>
            <p:nvPr/>
          </p:nvSpPr>
          <p:spPr>
            <a:xfrm>
              <a:off x="12353760" y="1678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3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31" name="TextBox 32"/>
            <p:cNvSpPr/>
            <p:nvPr/>
          </p:nvSpPr>
          <p:spPr>
            <a:xfrm>
              <a:off x="12459240" y="1774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135 / 135 / 135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2" name="Прямоугольник: скругленные противолежащие углы 33"/>
            <p:cNvSpPr/>
            <p:nvPr/>
          </p:nvSpPr>
          <p:spPr>
            <a:xfrm>
              <a:off x="12353760" y="2182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5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33" name="TextBox 34"/>
            <p:cNvSpPr/>
            <p:nvPr/>
          </p:nvSpPr>
          <p:spPr>
            <a:xfrm>
              <a:off x="12459240" y="2278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135 / 135 / 135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4" name="Прямоугольник: скругленные противолежащие углы 18"/>
            <p:cNvSpPr/>
            <p:nvPr/>
          </p:nvSpPr>
          <p:spPr>
            <a:xfrm>
              <a:off x="12353760" y="270324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6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35" name="TextBox 19"/>
            <p:cNvSpPr/>
            <p:nvPr/>
          </p:nvSpPr>
          <p:spPr>
            <a:xfrm>
              <a:off x="12459240" y="279864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174 / 100 / 100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36" name="TextBox 6"/>
          <p:cNvSpPr/>
          <p:nvPr/>
        </p:nvSpPr>
        <p:spPr>
          <a:xfrm>
            <a:off x="12353760" y="3255480"/>
            <a:ext cx="164376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Пожалуйста,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используйте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цветовую гамму </a:t>
            </a:r>
            <a:br>
              <a:rPr sz="1400"/>
            </a:br>
            <a:r>
              <a:rPr b="1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«300 лет СПбГУ»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237960" y="159120"/>
            <a:ext cx="10303200" cy="82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Образец заголовка</a:t>
            </a:r>
            <a:br>
              <a:rPr sz="3200"/>
            </a:b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в две строки (32 </a:t>
            </a:r>
            <a:r>
              <a:rPr b="1" lang="en-US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pt</a:t>
            </a: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)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237960" y="1268280"/>
            <a:ext cx="11777040" cy="504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Образец текста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Второй уровень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9144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Третий уровень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3716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Четвертый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8288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Пятый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10"/>
          </p:nvPr>
        </p:nvSpPr>
        <p:spPr>
          <a:xfrm>
            <a:off x="11456280" y="6460560"/>
            <a:ext cx="662760" cy="23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DD69009-42F1-4ACA-A1AF-0CF9B03963AB}" type="slidenum">
              <a:rPr b="0" lang="ru-RU" sz="1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PlaceHolder 4"/>
          <p:cNvSpPr>
            <a:spLocks noGrp="1"/>
          </p:cNvSpPr>
          <p:nvPr>
            <p:ph type="body"/>
          </p:nvPr>
        </p:nvSpPr>
        <p:spPr>
          <a:xfrm>
            <a:off x="5519880" y="1268280"/>
            <a:ext cx="6454080" cy="504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Образец текста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Второй уровень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Третий уровень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Четвертый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Пятый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4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Рисунок 4" descr=""/>
          <p:cNvPicPr/>
          <p:nvPr/>
        </p:nvPicPr>
        <p:blipFill>
          <a:blip r:embed="rId2"/>
          <a:srcRect l="0" t="0" r="46262" b="0"/>
          <a:stretch/>
        </p:blipFill>
        <p:spPr>
          <a:xfrm>
            <a:off x="9877680" y="0"/>
            <a:ext cx="2313360" cy="68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2" name="Рисунок 7" descr=""/>
          <p:cNvPicPr/>
          <p:nvPr/>
        </p:nvPicPr>
        <p:blipFill>
          <a:blip r:embed="rId3"/>
          <a:stretch/>
        </p:blipFill>
        <p:spPr>
          <a:xfrm>
            <a:off x="10708200" y="259560"/>
            <a:ext cx="1302840" cy="42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3" name="Прямоугольник 9"/>
          <p:cNvSpPr/>
          <p:nvPr/>
        </p:nvSpPr>
        <p:spPr>
          <a:xfrm flipV="1">
            <a:off x="11456280" y="6698160"/>
            <a:ext cx="734760" cy="67320"/>
          </a:xfrm>
          <a:prstGeom prst="rect">
            <a:avLst/>
          </a:prstGeom>
          <a:solidFill>
            <a:schemeClr val="accent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3040" bIns="23040" anchor="ctr">
            <a:noAutofit/>
          </a:bodyPr>
          <a:p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344" name="Группа 3"/>
          <p:cNvGrpSpPr/>
          <p:nvPr/>
        </p:nvGrpSpPr>
        <p:grpSpPr>
          <a:xfrm>
            <a:off x="12353760" y="159120"/>
            <a:ext cx="1102680" cy="2973240"/>
            <a:chOff x="12353760" y="159120"/>
            <a:chExt cx="1102680" cy="2973240"/>
          </a:xfrm>
        </p:grpSpPr>
        <p:sp>
          <p:nvSpPr>
            <p:cNvPr id="345" name="Прямоугольник: скругленные противолежащие углы 11"/>
            <p:cNvSpPr/>
            <p:nvPr/>
          </p:nvSpPr>
          <p:spPr>
            <a:xfrm>
              <a:off x="12353760" y="15912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1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46" name="TextBox 16"/>
            <p:cNvSpPr/>
            <p:nvPr/>
          </p:nvSpPr>
          <p:spPr>
            <a:xfrm>
              <a:off x="12459240" y="254520"/>
              <a:ext cx="892440" cy="21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175 / 44 / 34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7" name="Прямоугольник: скругленные противолежащие углы 27"/>
            <p:cNvSpPr/>
            <p:nvPr/>
          </p:nvSpPr>
          <p:spPr>
            <a:xfrm>
              <a:off x="12353760" y="67032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48" name="TextBox 28"/>
            <p:cNvSpPr/>
            <p:nvPr/>
          </p:nvSpPr>
          <p:spPr>
            <a:xfrm>
              <a:off x="12459240" y="766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200 / 160 / 110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9" name="Прямоугольник: скругленные противолежащие углы 29"/>
            <p:cNvSpPr/>
            <p:nvPr/>
          </p:nvSpPr>
          <p:spPr>
            <a:xfrm>
              <a:off x="12353760" y="1174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50" name="TextBox 30"/>
            <p:cNvSpPr/>
            <p:nvPr/>
          </p:nvSpPr>
          <p:spPr>
            <a:xfrm>
              <a:off x="12459240" y="1270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201 / 188 / 171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1" name="Прямоугольник: скругленные противолежащие углы 31"/>
            <p:cNvSpPr/>
            <p:nvPr/>
          </p:nvSpPr>
          <p:spPr>
            <a:xfrm>
              <a:off x="12353760" y="1678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3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52" name="TextBox 32"/>
            <p:cNvSpPr/>
            <p:nvPr/>
          </p:nvSpPr>
          <p:spPr>
            <a:xfrm>
              <a:off x="12459240" y="1774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135 / 135 / 135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3" name="Прямоугольник: скругленные противолежащие углы 33"/>
            <p:cNvSpPr/>
            <p:nvPr/>
          </p:nvSpPr>
          <p:spPr>
            <a:xfrm>
              <a:off x="12353760" y="2182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5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54" name="TextBox 34"/>
            <p:cNvSpPr/>
            <p:nvPr/>
          </p:nvSpPr>
          <p:spPr>
            <a:xfrm>
              <a:off x="12459240" y="2278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135 / 135 / 135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5" name="Прямоугольник: скругленные противолежащие углы 18"/>
            <p:cNvSpPr/>
            <p:nvPr/>
          </p:nvSpPr>
          <p:spPr>
            <a:xfrm>
              <a:off x="12353760" y="270324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6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56" name="TextBox 19"/>
            <p:cNvSpPr/>
            <p:nvPr/>
          </p:nvSpPr>
          <p:spPr>
            <a:xfrm>
              <a:off x="12459240" y="279864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174 / 100 / 100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57" name="TextBox 6"/>
          <p:cNvSpPr/>
          <p:nvPr/>
        </p:nvSpPr>
        <p:spPr>
          <a:xfrm>
            <a:off x="12353760" y="3255480"/>
            <a:ext cx="164376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Пожалуйста,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используйте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цветовую гамму </a:t>
            </a:r>
            <a:br>
              <a:rPr sz="1400"/>
            </a:br>
            <a:r>
              <a:rPr b="1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«300 лет СПбГУ»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PlaceHolder 1"/>
          <p:cNvSpPr>
            <a:spLocks noGrp="1"/>
          </p:cNvSpPr>
          <p:nvPr>
            <p:ph type="title"/>
          </p:nvPr>
        </p:nvSpPr>
        <p:spPr>
          <a:xfrm>
            <a:off x="237960" y="159120"/>
            <a:ext cx="10303200" cy="82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Образец заголовка</a:t>
            </a:r>
            <a:br>
              <a:rPr sz="3200"/>
            </a:b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в две строки (32 </a:t>
            </a:r>
            <a:r>
              <a:rPr b="1" lang="en-US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pt</a:t>
            </a: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)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237960" y="1268280"/>
            <a:ext cx="11777040" cy="504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Образец текста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Второй уровень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9144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Третий уровень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3716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Четвертый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8288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Пятый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sldNum" idx="11"/>
          </p:nvPr>
        </p:nvSpPr>
        <p:spPr>
          <a:xfrm>
            <a:off x="11456280" y="6460560"/>
            <a:ext cx="662760" cy="23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BE193F2-F42A-41CF-B8FC-AB4E8DEEF5FE}" type="slidenum">
              <a:rPr b="0" lang="ru-RU" sz="1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PlaceHolder 4"/>
          <p:cNvSpPr>
            <a:spLocks noGrp="1"/>
          </p:cNvSpPr>
          <p:nvPr>
            <p:ph type="body"/>
          </p:nvPr>
        </p:nvSpPr>
        <p:spPr>
          <a:xfrm>
            <a:off x="5519880" y="1268280"/>
            <a:ext cx="6454080" cy="504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Образец текста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Второй уровень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Третий уровень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Четвертый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Пятый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4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Рисунок 4" descr=""/>
          <p:cNvPicPr/>
          <p:nvPr/>
        </p:nvPicPr>
        <p:blipFill>
          <a:blip r:embed="rId2"/>
          <a:srcRect l="0" t="0" r="46262" b="0"/>
          <a:stretch/>
        </p:blipFill>
        <p:spPr>
          <a:xfrm>
            <a:off x="9877680" y="0"/>
            <a:ext cx="2313360" cy="68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3" name="Рисунок 7" descr=""/>
          <p:cNvPicPr/>
          <p:nvPr/>
        </p:nvPicPr>
        <p:blipFill>
          <a:blip r:embed="rId3"/>
          <a:stretch/>
        </p:blipFill>
        <p:spPr>
          <a:xfrm>
            <a:off x="10708200" y="259560"/>
            <a:ext cx="1302840" cy="42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4" name="Прямоугольник 9"/>
          <p:cNvSpPr/>
          <p:nvPr/>
        </p:nvSpPr>
        <p:spPr>
          <a:xfrm flipV="1">
            <a:off x="11456280" y="6698160"/>
            <a:ext cx="734760" cy="67320"/>
          </a:xfrm>
          <a:prstGeom prst="rect">
            <a:avLst/>
          </a:prstGeom>
          <a:solidFill>
            <a:schemeClr val="accent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3040" bIns="23040" anchor="ctr">
            <a:noAutofit/>
          </a:bodyPr>
          <a:p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365" name="Группа 3"/>
          <p:cNvGrpSpPr/>
          <p:nvPr/>
        </p:nvGrpSpPr>
        <p:grpSpPr>
          <a:xfrm>
            <a:off x="12353760" y="159120"/>
            <a:ext cx="1102680" cy="2973240"/>
            <a:chOff x="12353760" y="159120"/>
            <a:chExt cx="1102680" cy="2973240"/>
          </a:xfrm>
        </p:grpSpPr>
        <p:sp>
          <p:nvSpPr>
            <p:cNvPr id="366" name="Прямоугольник: скругленные противолежащие углы 11"/>
            <p:cNvSpPr/>
            <p:nvPr/>
          </p:nvSpPr>
          <p:spPr>
            <a:xfrm>
              <a:off x="12353760" y="15912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1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67" name="TextBox 16"/>
            <p:cNvSpPr/>
            <p:nvPr/>
          </p:nvSpPr>
          <p:spPr>
            <a:xfrm>
              <a:off x="12459240" y="254520"/>
              <a:ext cx="892440" cy="21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175 / 44 / 34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8" name="Прямоугольник: скругленные противолежащие углы 27"/>
            <p:cNvSpPr/>
            <p:nvPr/>
          </p:nvSpPr>
          <p:spPr>
            <a:xfrm>
              <a:off x="12353760" y="67032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69" name="TextBox 28"/>
            <p:cNvSpPr/>
            <p:nvPr/>
          </p:nvSpPr>
          <p:spPr>
            <a:xfrm>
              <a:off x="12459240" y="766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200 / 160 / 110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0" name="Прямоугольник: скругленные противолежащие углы 29"/>
            <p:cNvSpPr/>
            <p:nvPr/>
          </p:nvSpPr>
          <p:spPr>
            <a:xfrm>
              <a:off x="12353760" y="1174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dk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71" name="TextBox 30"/>
            <p:cNvSpPr/>
            <p:nvPr/>
          </p:nvSpPr>
          <p:spPr>
            <a:xfrm>
              <a:off x="12459240" y="1270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201 / 188 / 171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2" name="Прямоугольник: скругленные противолежащие углы 31"/>
            <p:cNvSpPr/>
            <p:nvPr/>
          </p:nvSpPr>
          <p:spPr>
            <a:xfrm>
              <a:off x="12353760" y="1678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3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73" name="TextBox 32"/>
            <p:cNvSpPr/>
            <p:nvPr/>
          </p:nvSpPr>
          <p:spPr>
            <a:xfrm>
              <a:off x="12459240" y="1774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135 / 135 / 135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4" name="Прямоугольник: скругленные противолежащие углы 33"/>
            <p:cNvSpPr/>
            <p:nvPr/>
          </p:nvSpPr>
          <p:spPr>
            <a:xfrm>
              <a:off x="12353760" y="218268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5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75" name="TextBox 34"/>
            <p:cNvSpPr/>
            <p:nvPr/>
          </p:nvSpPr>
          <p:spPr>
            <a:xfrm>
              <a:off x="12459240" y="227808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135 / 135 / 135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6" name="Прямоугольник: скругленные противолежащие углы 18"/>
            <p:cNvSpPr/>
            <p:nvPr/>
          </p:nvSpPr>
          <p:spPr>
            <a:xfrm>
              <a:off x="12353760" y="2703240"/>
              <a:ext cx="1102680" cy="42156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accent6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77" name="TextBox 19"/>
            <p:cNvSpPr/>
            <p:nvPr/>
          </p:nvSpPr>
          <p:spPr>
            <a:xfrm>
              <a:off x="12459240" y="2798640"/>
              <a:ext cx="8924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174 / 100 / 100</a:t>
              </a:r>
              <a:endPara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8" name="TextBox 6"/>
          <p:cNvSpPr/>
          <p:nvPr/>
        </p:nvSpPr>
        <p:spPr>
          <a:xfrm>
            <a:off x="12353760" y="3255480"/>
            <a:ext cx="164376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Пожалуйста,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используйте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цветовую гамму </a:t>
            </a:r>
            <a:br>
              <a:rPr sz="1400"/>
            </a:br>
            <a:r>
              <a:rPr b="1" lang="ru-RU" sz="1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«300 лет СПбГУ»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237960" y="159120"/>
            <a:ext cx="10303200" cy="82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Образец заголовка</a:t>
            </a:r>
            <a:br>
              <a:rPr sz="3200"/>
            </a:b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в две строки (32 </a:t>
            </a:r>
            <a:r>
              <a:rPr b="1" lang="en-US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pt</a:t>
            </a: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)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237960" y="1268280"/>
            <a:ext cx="11777040" cy="504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Образец текста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Второй уровень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9144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Третий уровень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3716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Четвертый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8288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Пятый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 type="sldNum" idx="12"/>
          </p:nvPr>
        </p:nvSpPr>
        <p:spPr>
          <a:xfrm>
            <a:off x="11456280" y="6460560"/>
            <a:ext cx="662760" cy="23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23B722D-236A-4F47-B6A7-B34FD93BB640}" type="slidenum">
              <a:rPr b="0" lang="ru-RU" sz="1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PlaceHolder 4"/>
          <p:cNvSpPr>
            <a:spLocks noGrp="1"/>
          </p:cNvSpPr>
          <p:nvPr>
            <p:ph type="body"/>
          </p:nvPr>
        </p:nvSpPr>
        <p:spPr>
          <a:xfrm>
            <a:off x="5519880" y="1268280"/>
            <a:ext cx="6454080" cy="504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Образец текста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Второй уровень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Третий уровень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Четвертый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Пятый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4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641E592-92F2-4923-A76E-2165759F774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emf"/><Relationship Id="rId2" Type="http://schemas.openxmlformats.org/officeDocument/2006/relationships/image" Target="../media/image11.emf"/><Relationship Id="rId3" Type="http://schemas.openxmlformats.org/officeDocument/2006/relationships/image" Target="../media/image12.emf"/><Relationship Id="rId4" Type="http://schemas.openxmlformats.org/officeDocument/2006/relationships/image" Target="../media/image13.emf"/><Relationship Id="rId5" Type="http://schemas.openxmlformats.org/officeDocument/2006/relationships/image" Target="../media/image14.emf"/><Relationship Id="rId6" Type="http://schemas.openxmlformats.org/officeDocument/2006/relationships/image" Target="../media/image15.emf"/><Relationship Id="rId7" Type="http://schemas.openxmlformats.org/officeDocument/2006/relationships/image" Target="../media/image16.emf"/><Relationship Id="rId8" Type="http://schemas.openxmlformats.org/officeDocument/2006/relationships/image" Target="../media/image17.emf"/><Relationship Id="rId9" Type="http://schemas.openxmlformats.org/officeDocument/2006/relationships/image" Target="../media/image18.emf"/><Relationship Id="rId10" Type="http://schemas.openxmlformats.org/officeDocument/2006/relationships/image" Target="../media/image19.emf"/><Relationship Id="rId11" Type="http://schemas.openxmlformats.org/officeDocument/2006/relationships/image" Target="../media/image20.emf"/><Relationship Id="rId12" Type="http://schemas.openxmlformats.org/officeDocument/2006/relationships/slideLayout" Target="../slideLayouts/slideLayout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6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6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6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title"/>
          </p:nvPr>
        </p:nvSpPr>
        <p:spPr>
          <a:xfrm>
            <a:off x="672840" y="2954520"/>
            <a:ext cx="11111040" cy="73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4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Тематическое моделирование русскоязычных запросов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PlaceHolder 2"/>
          <p:cNvSpPr>
            <a:spLocks noGrp="1"/>
          </p:cNvSpPr>
          <p:nvPr>
            <p:ph/>
          </p:nvPr>
        </p:nvSpPr>
        <p:spPr>
          <a:xfrm>
            <a:off x="664920" y="5434200"/>
            <a:ext cx="11309040" cy="50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</a:rPr>
              <a:t>Шарабарин Михаил, Полугрудов Артём, Пушкарев Никита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title"/>
          </p:nvPr>
        </p:nvSpPr>
        <p:spPr>
          <a:xfrm>
            <a:off x="237960" y="278640"/>
            <a:ext cx="10303200" cy="70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Постановка задачи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Номер слайда 5"/>
          <p:cNvSpPr/>
          <p:nvPr/>
        </p:nvSpPr>
        <p:spPr>
          <a:xfrm>
            <a:off x="11456280" y="6460560"/>
            <a:ext cx="6627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36224226-C733-4353-AA45-EFE062C9771C}" type="slidenum">
              <a:rPr b="0" lang="ru-RU" sz="1200" strike="noStrike" u="none">
                <a:solidFill>
                  <a:schemeClr val="dk1">
                    <a:lumMod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PlaceHolder 2"/>
          <p:cNvSpPr>
            <a:spLocks noGrp="1"/>
          </p:cNvSpPr>
          <p:nvPr>
            <p:ph/>
          </p:nvPr>
        </p:nvSpPr>
        <p:spPr>
          <a:xfrm>
            <a:off x="252000" y="576000"/>
            <a:ext cx="11461680" cy="322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Построить систему Topic Modeling для запросов к AI-ассистенту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Запрещены нейросети, Word2Vec, BERT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Использованы TF-IDF, LDA, sklearn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Основной акцент — intrinsic evaluation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title"/>
          </p:nvPr>
        </p:nvSpPr>
        <p:spPr>
          <a:xfrm>
            <a:off x="237960" y="278640"/>
            <a:ext cx="10303200" cy="70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Проблема исходной разметки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PlaceHolder 2"/>
          <p:cNvSpPr>
            <a:spLocks noGrp="1"/>
          </p:cNvSpPr>
          <p:nvPr>
            <p:ph/>
          </p:nvPr>
        </p:nvSpPr>
        <p:spPr>
          <a:xfrm>
            <a:off x="396720" y="1091160"/>
            <a:ext cx="11461680" cy="322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topic_id/topic_name оказались ненадёжными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Метки были получены через LLM + ошибочный классификатор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Purity/NMI/ARI стали нерепрезентативными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Переход на coherence + diversity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Номер слайда 5"/>
          <p:cNvSpPr/>
          <p:nvPr/>
        </p:nvSpPr>
        <p:spPr>
          <a:xfrm>
            <a:off x="11456280" y="6460560"/>
            <a:ext cx="6627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7EEA569A-6CE7-437C-B52B-0A306BE0D74F}" type="slidenum">
              <a:rPr b="0" lang="ru-RU" sz="1200" strike="noStrike" u="none">
                <a:solidFill>
                  <a:schemeClr val="dk1">
                    <a:lumMod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title"/>
          </p:nvPr>
        </p:nvSpPr>
        <p:spPr>
          <a:xfrm>
            <a:off x="237960" y="278640"/>
            <a:ext cx="10303200" cy="70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Архитектура проекта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PlaceHolder 2"/>
          <p:cNvSpPr>
            <a:spLocks noGrp="1"/>
          </p:cNvSpPr>
          <p:nvPr>
            <p:ph/>
          </p:nvPr>
        </p:nvSpPr>
        <p:spPr>
          <a:xfrm>
            <a:off x="396720" y="1091160"/>
            <a:ext cx="11461680" cy="322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Модульная production-like архитектура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Отдельные слои preprocessing / models / evaluation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Конфигурация через YAML + dataclass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CLI pipeline train.py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Номер слайда 3"/>
          <p:cNvSpPr/>
          <p:nvPr/>
        </p:nvSpPr>
        <p:spPr>
          <a:xfrm>
            <a:off x="11456280" y="6460560"/>
            <a:ext cx="6627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A453BC0C-A079-4B24-BBAF-20474ACA1078}" type="slidenum">
              <a:rPr b="0" lang="ru-RU" sz="1200" strike="noStrike" u="none">
                <a:solidFill>
                  <a:schemeClr val="dk1">
                    <a:lumMod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title"/>
          </p:nvPr>
        </p:nvSpPr>
        <p:spPr>
          <a:xfrm>
            <a:off x="237960" y="278640"/>
            <a:ext cx="10303200" cy="70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Предобработка данных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PlaceHolder 2"/>
          <p:cNvSpPr>
            <a:spLocks noGrp="1"/>
          </p:cNvSpPr>
          <p:nvPr>
            <p:ph/>
          </p:nvPr>
        </p:nvSpPr>
        <p:spPr>
          <a:xfrm>
            <a:off x="396720" y="1091160"/>
            <a:ext cx="11461680" cy="322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Очистка raw log_text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POS-фильтрация: только NOUN + ADJF + ADJS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578 русских стоп-слов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TF-IDF: 25 000 признаков, ngram=(1,2)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Номер слайда 4"/>
          <p:cNvSpPr/>
          <p:nvPr/>
        </p:nvSpPr>
        <p:spPr>
          <a:xfrm>
            <a:off x="11456280" y="6460560"/>
            <a:ext cx="6627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C5A4E929-1986-4CF6-BFBA-D29E34114AA7}" type="slidenum">
              <a:rPr b="0" lang="ru-RU" sz="1200" strike="noStrike" u="none">
                <a:solidFill>
                  <a:schemeClr val="dk1">
                    <a:lumMod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2" name="" descr=""/>
          <p:cNvPicPr/>
          <p:nvPr/>
        </p:nvPicPr>
        <p:blipFill>
          <a:blip r:embed="rId1"/>
          <a:srcRect l="0" t="0" r="46645" b="0"/>
          <a:stretch/>
        </p:blipFill>
        <p:spPr>
          <a:xfrm>
            <a:off x="180000" y="2966760"/>
            <a:ext cx="5583600" cy="3189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3" name="" descr=""/>
          <p:cNvPicPr/>
          <p:nvPr/>
        </p:nvPicPr>
        <p:blipFill>
          <a:blip r:embed="rId2"/>
          <a:stretch/>
        </p:blipFill>
        <p:spPr>
          <a:xfrm>
            <a:off x="6040440" y="2916000"/>
            <a:ext cx="6019560" cy="324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title"/>
          </p:nvPr>
        </p:nvSpPr>
        <p:spPr>
          <a:xfrm>
            <a:off x="237960" y="278640"/>
            <a:ext cx="10303200" cy="70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Пайплайн предобработки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Номер слайда 13"/>
          <p:cNvSpPr/>
          <p:nvPr/>
        </p:nvSpPr>
        <p:spPr>
          <a:xfrm>
            <a:off x="11456280" y="6460560"/>
            <a:ext cx="6627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C0F1DE8A-1B67-4523-9588-9668D0C9265A}" type="slidenum">
              <a:rPr b="0" lang="ru-RU" sz="1200" strike="noStrike" u="none">
                <a:solidFill>
                  <a:schemeClr val="dk1">
                    <a:lumMod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06" name=""/>
          <p:cNvGraphicFramePr/>
          <p:nvPr/>
        </p:nvGraphicFramePr>
        <p:xfrm>
          <a:off x="606240" y="1262160"/>
          <a:ext cx="10979640" cy="4806000"/>
        </p:xfrm>
        <a:graphic>
          <a:graphicData uri="http://schemas.openxmlformats.org/drawingml/2006/table">
            <a:tbl>
              <a:tblPr/>
              <a:tblGrid>
                <a:gridCol w="3273120"/>
                <a:gridCol w="3983040"/>
                <a:gridCol w="3723840"/>
              </a:tblGrid>
              <a:tr h="96084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ru-RU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Шаг</a:t>
                      </a:r>
                      <a:endParaRPr b="1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af2c22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ru-RU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Метод</a:t>
                      </a:r>
                      <a:endParaRPr b="1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af2c22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ru-RU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Результат</a:t>
                      </a:r>
                      <a:endParaRPr b="1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af2c22"/>
                    </a:solidFill>
                  </a:tcPr>
                </a:tc>
              </a:tr>
              <a:tr h="114768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 Нормализация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Удаление URL, цифр, не-кириллицы; стрип системного префикса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clean_text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7428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2. Точная дедупликация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drop_duplicates na cleaned_text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-46 703 дублей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7428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3. Нечёткая дедупликация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MinHash LSH (threshold=0.70, bigram shingles)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-12 960 near-дублей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7428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4. POS-фильтрация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pymorphy3: NOUN + ADJF, без Apro/Anum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42.3% токенов сохранено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7464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5. Фильтр длины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 ≤ слов ≤ 300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Итого 162 606 документов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07" name=""/>
          <p:cNvSpPr txBox="1"/>
          <p:nvPr/>
        </p:nvSpPr>
        <p:spPr>
          <a:xfrm>
            <a:off x="8784000" y="983520"/>
            <a:ext cx="3240000" cy="258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Рис. 1 Пайплайн предобработки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Segoe U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title"/>
          </p:nvPr>
        </p:nvSpPr>
        <p:spPr>
          <a:xfrm>
            <a:off x="237960" y="278640"/>
            <a:ext cx="10303200" cy="70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Почему POS-фильтрация важна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PlaceHolder 2"/>
          <p:cNvSpPr>
            <a:spLocks noGrp="1"/>
          </p:cNvSpPr>
          <p:nvPr>
            <p:ph/>
          </p:nvPr>
        </p:nvSpPr>
        <p:spPr>
          <a:xfrm>
            <a:off x="396720" y="1091160"/>
            <a:ext cx="11461680" cy="322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Функциональные слова доминировали в raw log_text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Стоп-слова не покрывали все словоформы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POS-фильтр решает проблему морфологии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После фильтрации темы стали интерпретируемыми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Номер слайда 2"/>
          <p:cNvSpPr/>
          <p:nvPr/>
        </p:nvSpPr>
        <p:spPr>
          <a:xfrm>
            <a:off x="11456280" y="6460560"/>
            <a:ext cx="6627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7313C47B-36E3-488F-8E69-67639B924056}" type="slidenum">
              <a:rPr b="0" lang="ru-RU" sz="1200" strike="noStrike" u="none">
                <a:solidFill>
                  <a:schemeClr val="dk1">
                    <a:lumMod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title"/>
          </p:nvPr>
        </p:nvSpPr>
        <p:spPr>
          <a:xfrm>
            <a:off x="237960" y="278640"/>
            <a:ext cx="10303200" cy="70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Использованные формулы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Номер слайда 15"/>
          <p:cNvSpPr/>
          <p:nvPr/>
        </p:nvSpPr>
        <p:spPr>
          <a:xfrm>
            <a:off x="11456280" y="6460560"/>
            <a:ext cx="6627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AEEF9A6D-5800-4E01-B1F6-3387365ADD93}" type="slidenum">
              <a:rPr b="0" lang="ru-RU" sz="1200" strike="noStrike" u="none">
                <a:solidFill>
                  <a:schemeClr val="dk1">
                    <a:lumMod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413" name=""/>
              <p:cNvSpPr txBox="1"/>
              <p:nvPr/>
            </p:nvSpPr>
            <p:spPr>
              <a:xfrm>
                <a:off x="7308000" y="1975680"/>
                <a:ext cx="1164240" cy="4536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TF</m:t>
                    </m:r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t</m:t>
                        </m:r>
                        <m:r>
                          <m:t xml:space="preserve">,</m:t>
                        </m:r>
                        <m:r>
                          <m:t xml:space="preserve">d</m:t>
                        </m:r>
                      </m:e>
                    </m:d>
                    <m:r>
                      <m:t xml:space="preserve">=</m:t>
                    </m:r>
                    <m:f>
                      <m:num>
                        <m:sSub>
                          <m:e>
                            <m:r>
                              <m:t xml:space="preserve">n</m:t>
                            </m:r>
                          </m:e>
                          <m:sub>
                            <m:r>
                              <m:t xml:space="preserve">t</m:t>
                            </m:r>
                            <m:r>
                              <m:t xml:space="preserve">,</m:t>
                            </m:r>
                            <m:r>
                              <m:t xml:space="preserve">d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subHide m:val="1"/>
                            <m:supHide m:val="1"/>
                          </m:naryPr>
                          <m:sub/>
                          <m:sup/>
                          <m:e>
                            <m:sSub>
                              <m:e>
                                <m:r>
                                  <m:t xml:space="preserve">n</m:t>
                                </m:r>
                              </m:e>
                              <m:sub>
                                <m:r>
                                  <m:t xml:space="preserve">k</m:t>
                                </m:r>
                                <m:r>
                                  <m:t xml:space="preserve">,</m:t>
                                </m:r>
                                <m:r>
                                  <m:t xml:space="preserve">d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413" name=""/>
              <p:cNvSpPr txBox="1"/>
              <p:nvPr/>
            </p:nvSpPr>
            <p:spPr>
              <a:xfrm>
                <a:off x="7308000" y="1975680"/>
                <a:ext cx="1164240" cy="45360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14" name=""/>
              <p:cNvSpPr txBox="1"/>
              <p:nvPr/>
            </p:nvSpPr>
            <p:spPr>
              <a:xfrm>
                <a:off x="7308000" y="2551680"/>
                <a:ext cx="1270440" cy="4150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IDF</m:t>
                    </m:r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t</m:t>
                        </m:r>
                      </m:e>
                    </m:d>
                    <m:r>
                      <m:t xml:space="preserve">=</m:t>
                    </m:r>
                    <m:r>
                      <m:t xml:space="preserve">log</m:t>
                    </m:r>
                    <m:d>
                      <m:dPr>
                        <m:begChr m:val="("/>
                        <m:endChr m:val=")"/>
                      </m:dPr>
                      <m:e>
                        <m:f>
                          <m:num>
                            <m:r>
                              <m:t xml:space="preserve">N</m:t>
                            </m:r>
                          </m:num>
                          <m:den>
                            <m:r>
                              <m:t xml:space="preserve">df</m:t>
                            </m:r>
                            <m:d>
                              <m:dPr>
                                <m:begChr m:val="("/>
                                <m:endChr m:val=")"/>
                              </m:dPr>
                              <m:e>
                                <m:r>
                                  <m:t xml:space="preserve">t</m:t>
                                </m:r>
                              </m:e>
                            </m:d>
                          </m:den>
                        </m:f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414" name=""/>
              <p:cNvSpPr txBox="1"/>
              <p:nvPr/>
            </p:nvSpPr>
            <p:spPr>
              <a:xfrm>
                <a:off x="7308000" y="2551680"/>
                <a:ext cx="1270440" cy="4150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15" name=""/>
              <p:cNvSpPr txBox="1"/>
              <p:nvPr/>
            </p:nvSpPr>
            <p:spPr>
              <a:xfrm>
                <a:off x="7315560" y="3163680"/>
                <a:ext cx="2044440" cy="1843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TF</m:t>
                    </m:r>
                    <m:r>
                      <m:t xml:space="preserve">‑</m:t>
                    </m:r>
                    <m:r>
                      <m:t xml:space="preserve">IDF</m:t>
                    </m:r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t</m:t>
                        </m:r>
                        <m:r>
                          <m:t xml:space="preserve">,</m:t>
                        </m:r>
                        <m:r>
                          <m:t xml:space="preserve">d</m:t>
                        </m:r>
                      </m:e>
                    </m:d>
                    <m:r>
                      <m:t xml:space="preserve">=</m:t>
                    </m:r>
                    <m:r>
                      <m:t xml:space="preserve">TF</m:t>
                    </m:r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t</m:t>
                        </m:r>
                        <m:r>
                          <m:t xml:space="preserve">,</m:t>
                        </m:r>
                        <m:r>
                          <m:t xml:space="preserve">d</m:t>
                        </m:r>
                      </m:e>
                    </m:d>
                    <m:r>
                      <m:t xml:space="preserve">⋅</m:t>
                    </m:r>
                    <m:r>
                      <m:t xml:space="preserve">IDF</m:t>
                    </m:r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t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415" name=""/>
              <p:cNvSpPr txBox="1"/>
              <p:nvPr/>
            </p:nvSpPr>
            <p:spPr>
              <a:xfrm>
                <a:off x="7315560" y="3163680"/>
                <a:ext cx="2044440" cy="1843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16" name=""/>
              <p:cNvSpPr txBox="1"/>
              <p:nvPr/>
            </p:nvSpPr>
            <p:spPr>
              <a:xfrm>
                <a:off x="360000" y="3142800"/>
                <a:ext cx="545040" cy="1692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V</m:t>
                    </m:r>
                    <m:r>
                      <m:t xml:space="preserve">≈</m:t>
                    </m:r>
                    <m:r>
                      <m:t xml:space="preserve">W</m:t>
                    </m:r>
                    <m:r>
                      <m:t xml:space="preserve">H</m:t>
                    </m:r>
                  </m:oMath>
                </a14:m>
              </a:p>
            </p:txBody>
          </p:sp>
        </mc:Choice>
        <mc:Fallback>
          <p:sp>
            <p:nvSpPr>
              <p:cNvPr id="416" name=""/>
              <p:cNvSpPr txBox="1"/>
              <p:nvPr/>
            </p:nvSpPr>
            <p:spPr>
              <a:xfrm>
                <a:off x="360000" y="3142800"/>
                <a:ext cx="545040" cy="169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17" name=""/>
              <p:cNvSpPr txBox="1"/>
              <p:nvPr/>
            </p:nvSpPr>
            <p:spPr>
              <a:xfrm>
                <a:off x="360000" y="2628000"/>
                <a:ext cx="1403640" cy="2116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min</m:t>
                        </m:r>
                      </m:e>
                      <m:sub>
                        <m:r>
                          <m:t xml:space="preserve">W</m:t>
                        </m:r>
                        <m:r>
                          <m:t xml:space="preserve">,</m:t>
                        </m:r>
                        <m:r>
                          <m:t xml:space="preserve">H</m:t>
                        </m:r>
                        <m:r>
                          <m:t xml:space="preserve">≥</m:t>
                        </m:r>
                        <m:r>
                          <m:t xml:space="preserve">0</m:t>
                        </m:r>
                      </m:sub>
                    </m:sSub>
                    <m:r>
                      <m:t xml:space="preserve">∥</m:t>
                    </m:r>
                    <m:r>
                      <m:t xml:space="preserve">V</m:t>
                    </m:r>
                    <m:r>
                      <m:t xml:space="preserve">−</m:t>
                    </m:r>
                    <m:r>
                      <m:t xml:space="preserve">W</m:t>
                    </m:r>
                    <m:r>
                      <m:t xml:space="preserve">H</m:t>
                    </m:r>
                    <m:sSubSup>
                      <m:e>
                        <m:r>
                          <m:t xml:space="preserve">∥</m:t>
                        </m:r>
                      </m:e>
                      <m:sub>
                        <m:r>
                          <m:t xml:space="preserve">F</m:t>
                        </m:r>
                      </m:sub>
                      <m:sup>
                        <m:r>
                          <m:t xml:space="preserve">2</m:t>
                        </m:r>
                      </m:sup>
                    </m:sSubSup>
                  </m:oMath>
                </a14:m>
              </a:p>
            </p:txBody>
          </p:sp>
        </mc:Choice>
        <mc:Fallback>
          <p:sp>
            <p:nvSpPr>
              <p:cNvPr id="417" name=""/>
              <p:cNvSpPr txBox="1"/>
              <p:nvPr/>
            </p:nvSpPr>
            <p:spPr>
              <a:xfrm>
                <a:off x="360000" y="2628000"/>
                <a:ext cx="1403640" cy="2116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18" name=""/>
              <p:cNvSpPr txBox="1"/>
              <p:nvPr/>
            </p:nvSpPr>
            <p:spPr>
              <a:xfrm>
                <a:off x="330480" y="4801320"/>
                <a:ext cx="1269720" cy="6346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p</m:t>
                    </m:r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θ</m:t>
                        </m:r>
                        <m:r>
                          <m:t xml:space="preserve">,</m:t>
                        </m:r>
                        <m:r>
                          <m:t xml:space="preserve">z</m:t>
                        </m:r>
                        <m:r>
                          <m:t xml:space="preserve">,</m:t>
                        </m:r>
                        <m:r>
                          <m:t xml:space="preserve">w</m:t>
                        </m:r>
                        <m:r>
                          <m:t xml:space="preserve">∨</m:t>
                        </m:r>
                        <m:r>
                          <m:t xml:space="preserve">α</m:t>
                        </m:r>
                        <m:r>
                          <m:t xml:space="preserve">,</m:t>
                        </m:r>
                        <m:r>
                          <m:t xml:space="preserve">β</m:t>
                        </m:r>
                      </m:e>
                    </m:d>
                    <m:r>
                      <m:t xml:space="preserve">=</m:t>
                    </m:r>
                    <m:r>
                      <m:t xml:space="preserve">p</m:t>
                    </m:r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θ</m:t>
                        </m:r>
                        <m:r>
                          <m:t xml:space="preserve">∨</m:t>
                        </m:r>
                        <m:r>
                          <m:t xml:space="preserve">α</m:t>
                        </m:r>
                      </m:e>
                    </m:d>
                    <m:nary>
                      <m:naryPr>
                        <m:chr m:val="∏"/>
                        <m:subHide m:val="1"/>
                        <m:supHide m:val="1"/>
                      </m:naryPr>
                      <m:sub/>
                      <m:sup/>
                      <m:e>
                        <m:r>
                          <m:t xml:space="preserve">p</m:t>
                        </m:r>
                      </m:e>
                    </m:nary>
                    <m:d>
                      <m:dPr>
                        <m:begChr m:val="("/>
                        <m:endChr m:val=")"/>
                      </m:dPr>
                      <m:e>
                        <m:sSub>
                          <m:e>
                            <m:r>
                              <m:t xml:space="preserve">z</m:t>
                            </m:r>
                          </m:e>
                          <m:sub>
                            <m:r>
                              <m:t xml:space="preserve">n</m:t>
                            </m:r>
                          </m:sub>
                        </m:sSub>
                        <m:r>
                          <m:t xml:space="preserve">∨</m:t>
                        </m:r>
                        <m:r>
                          <m:t xml:space="preserve">θ</m:t>
                        </m:r>
                      </m:e>
                    </m:d>
                    <m:r>
                      <m:t xml:space="preserve">p</m:t>
                    </m:r>
                    <m:d>
                      <m:dPr>
                        <m:begChr m:val="("/>
                        <m:endChr m:val=")"/>
                      </m:dPr>
                      <m:e>
                        <m:sSub>
                          <m:e>
                            <m:r>
                              <m:t xml:space="preserve">w</m:t>
                            </m:r>
                          </m:e>
                          <m:sub>
                            <m:r>
                              <m:t xml:space="preserve">n</m:t>
                            </m:r>
                          </m:sub>
                        </m:sSub>
                        <m:r>
                          <m:t xml:space="preserve">∨</m:t>
                        </m:r>
                        <m:sSub>
                          <m:e>
                            <m:r>
                              <m:t xml:space="preserve">z</m:t>
                            </m:r>
                          </m:e>
                          <m:sub>
                            <m:r>
                              <m:t xml:space="preserve">n</m:t>
                            </m:r>
                          </m:sub>
                        </m:sSub>
                        <m:r>
                          <m:t xml:space="preserve">,</m:t>
                        </m:r>
                        <m:r>
                          <m:t xml:space="preserve">β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418" name=""/>
              <p:cNvSpPr txBox="1"/>
              <p:nvPr/>
            </p:nvSpPr>
            <p:spPr>
              <a:xfrm>
                <a:off x="330480" y="4801320"/>
                <a:ext cx="1269720" cy="6346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19" name=""/>
              <p:cNvSpPr txBox="1"/>
              <p:nvPr/>
            </p:nvSpPr>
            <p:spPr>
              <a:xfrm>
                <a:off x="330480" y="4344840"/>
                <a:ext cx="2027880" cy="240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P</m:t>
                    </m:r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w</m:t>
                        </m:r>
                        <m:r>
                          <m:t xml:space="preserve">∨</m:t>
                        </m:r>
                        <m:r>
                          <m:t xml:space="preserve">d</m:t>
                        </m:r>
                      </m:e>
                    </m:d>
                    <m:r>
                      <m:t xml:space="preserve">=</m:t>
                    </m:r>
                    <m:nary>
                      <m:naryPr>
                        <m:chr m:val="∑"/>
                        <m:subHide m:val="1"/>
                        <m:supHide m:val="1"/>
                      </m:naryPr>
                      <m:sub/>
                      <m:sup/>
                      <m:e>
                        <m:r>
                          <m:t xml:space="preserve">P</m:t>
                        </m:r>
                      </m:e>
                    </m:nary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w</m:t>
                        </m:r>
                        <m:r>
                          <m:t xml:space="preserve">∨</m:t>
                        </m:r>
                        <m:r>
                          <m:t xml:space="preserve">z</m:t>
                        </m:r>
                      </m:e>
                    </m:d>
                    <m:r>
                      <m:t xml:space="preserve">P</m:t>
                    </m:r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z</m:t>
                        </m:r>
                        <m:r>
                          <m:t xml:space="preserve">∨</m:t>
                        </m:r>
                        <m:r>
                          <m:t xml:space="preserve">d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419" name=""/>
              <p:cNvSpPr txBox="1"/>
              <p:nvPr/>
            </p:nvSpPr>
            <p:spPr>
              <a:xfrm>
                <a:off x="330480" y="4344840"/>
                <a:ext cx="2027880" cy="2404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20" name=""/>
              <p:cNvSpPr txBox="1"/>
              <p:nvPr/>
            </p:nvSpPr>
            <p:spPr>
              <a:xfrm>
                <a:off x="7200000" y="4680000"/>
                <a:ext cx="850680" cy="3610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ς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n</m:t>
                        </m:r>
                        <m:r>
                          <m:t xml:space="preserve">−</m:t>
                        </m:r>
                        <m:r>
                          <m:t xml:space="preserve">1</m:t>
                        </m:r>
                      </m:den>
                    </m:f>
                    <m:sSup>
                      <m:e>
                        <m:r>
                          <m:t xml:space="preserve">X</m:t>
                        </m:r>
                      </m:e>
                      <m:sup>
                        <m:r>
                          <m:t xml:space="preserve">T</m:t>
                        </m:r>
                      </m:sup>
                    </m:sSup>
                    <m:r>
                      <m:t xml:space="preserve">X</m:t>
                    </m:r>
                  </m:oMath>
                </a14:m>
              </a:p>
            </p:txBody>
          </p:sp>
        </mc:Choice>
        <mc:Fallback>
          <p:sp>
            <p:nvSpPr>
              <p:cNvPr id="420" name=""/>
              <p:cNvSpPr txBox="1"/>
              <p:nvPr/>
            </p:nvSpPr>
            <p:spPr>
              <a:xfrm>
                <a:off x="7200000" y="4680000"/>
                <a:ext cx="850680" cy="3610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21" name=""/>
              <p:cNvSpPr txBox="1"/>
              <p:nvPr/>
            </p:nvSpPr>
            <p:spPr>
              <a:xfrm>
                <a:off x="7227000" y="4330440"/>
                <a:ext cx="513000" cy="1695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T</m:t>
                    </m:r>
                    <m:r>
                      <m:t xml:space="preserve">=</m:t>
                    </m:r>
                    <m:r>
                      <m:t xml:space="preserve">X</m:t>
                    </m:r>
                    <m:r>
                      <m:t xml:space="preserve">W</m:t>
                    </m:r>
                  </m:oMath>
                </a14:m>
              </a:p>
            </p:txBody>
          </p:sp>
        </mc:Choice>
        <mc:Fallback>
          <p:sp>
            <p:nvSpPr>
              <p:cNvPr id="421" name=""/>
              <p:cNvSpPr txBox="1"/>
              <p:nvPr/>
            </p:nvSpPr>
            <p:spPr>
              <a:xfrm>
                <a:off x="7227000" y="4330440"/>
                <a:ext cx="513000" cy="16956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22" name=""/>
              <p:cNvSpPr txBox="1"/>
              <p:nvPr/>
            </p:nvSpPr>
            <p:spPr>
              <a:xfrm>
                <a:off x="7200000" y="5389920"/>
                <a:ext cx="748440" cy="1900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X</m:t>
                    </m:r>
                    <m:r>
                      <m:t xml:space="preserve">=</m:t>
                    </m:r>
                    <m:r>
                      <m:t xml:space="preserve">T</m:t>
                    </m:r>
                    <m:sSup>
                      <m:e>
                        <m:r>
                          <m:t xml:space="preserve">P</m:t>
                        </m:r>
                      </m:e>
                      <m:sup>
                        <m:r>
                          <m:t xml:space="preserve">T</m:t>
                        </m:r>
                      </m:sup>
                    </m:sSup>
                    <m:r>
                      <m:t xml:space="preserve">+</m:t>
                    </m:r>
                    <m:r>
                      <m:t xml:space="preserve">E</m:t>
                    </m:r>
                  </m:oMath>
                </a14:m>
              </a:p>
            </p:txBody>
          </p:sp>
        </mc:Choice>
        <mc:Fallback>
          <p:sp>
            <p:nvSpPr>
              <p:cNvPr id="422" name=""/>
              <p:cNvSpPr txBox="1"/>
              <p:nvPr/>
            </p:nvSpPr>
            <p:spPr>
              <a:xfrm>
                <a:off x="7200000" y="5389920"/>
                <a:ext cx="748440" cy="19008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23" name=""/>
              <p:cNvSpPr txBox="1"/>
              <p:nvPr/>
            </p:nvSpPr>
            <p:spPr>
              <a:xfrm>
                <a:off x="360000" y="1944000"/>
                <a:ext cx="3215880" cy="4975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D</m:t>
                        </m:r>
                      </m:e>
                      <m:sub>
                        <m:r>
                          <m:t xml:space="preserve">KL</m:t>
                        </m:r>
                      </m:sub>
                    </m:sSub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X</m:t>
                        </m:r>
                        <m:r>
                          <m:t xml:space="preserve">∥</m:t>
                        </m:r>
                        <m:r>
                          <m:t xml:space="preserve">W</m:t>
                        </m:r>
                        <m:r>
                          <m:t xml:space="preserve">H</m:t>
                        </m:r>
                      </m:e>
                    </m:d>
                    <m:r>
                      <m:t xml:space="preserve">=</m:t>
                    </m:r>
                    <m:nary>
                      <m:naryPr>
                        <m:chr m:val="∑"/>
                        <m:subHide m:val="1"/>
                        <m:supHide m:val="1"/>
                      </m:naryPr>
                      <m:sub/>
                      <m:sup/>
                      <m:e>
                        <m:d>
                          <m:dPr>
                            <m:begChr m:val="("/>
                            <m:endChr m:val=")"/>
                          </m:dPr>
                          <m:e>
                            <m:sSub>
                              <m:e>
                                <m:r>
                                  <m:t xml:space="preserve">X</m:t>
                                </m:r>
                              </m:e>
                              <m:sub>
                                <m:r>
                                  <m:t xml:space="preserve">ij</m:t>
                                </m:r>
                              </m:sub>
                            </m:sSub>
                            <m:r>
                              <m:t xml:space="preserve">ln</m:t>
                            </m:r>
                            <m:d>
                              <m:dPr>
                                <m:begChr m:val="("/>
                                <m:endChr m:val=")"/>
                              </m:dPr>
                              <m:e>
                                <m:f>
                                  <m:num>
                                    <m:sSub>
                                      <m:e>
                                        <m:r>
                                          <m:t xml:space="preserve">X</m:t>
                                        </m:r>
                                      </m:e>
                                      <m:sub>
                                        <m:r>
                                          <m:t xml:space="preserve">ij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e>
                                        <m:d>
                                          <m:dPr>
                                            <m:begChr m:val="("/>
                                            <m:endChr m:val=")"/>
                                          </m:dPr>
                                          <m:e>
                                            <m:r>
                                              <m:t xml:space="preserve">W</m:t>
                                            </m:r>
                                            <m:r>
                                              <m:t xml:space="preserve">H</m:t>
                                            </m:r>
                                          </m:e>
                                        </m:d>
                                      </m:e>
                                      <m:sub>
                                        <m:r>
                                          <m:t xml:space="preserve">ij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  <m:r>
                              <m:t xml:space="preserve">−</m:t>
                            </m:r>
                            <m:sSub>
                              <m:e>
                                <m:r>
                                  <m:t xml:space="preserve">X</m:t>
                                </m:r>
                              </m:e>
                              <m:sub>
                                <m:r>
                                  <m:t xml:space="preserve">ij</m:t>
                                </m:r>
                              </m:sub>
                            </m:sSub>
                            <m:r>
                              <m:t xml:space="preserve">+</m:t>
                            </m:r>
                            <m:sSub>
                              <m:e>
                                <m:d>
                                  <m:dPr>
                                    <m:begChr m:val="("/>
                                    <m:endChr m:val=")"/>
                                  </m:dPr>
                                  <m:e>
                                    <m:r>
                                      <m:t xml:space="preserve">W</m:t>
                                    </m:r>
                                    <m:r>
                                      <m:t xml:space="preserve">H</m:t>
                                    </m:r>
                                  </m:e>
                                </m:d>
                              </m:e>
                              <m:sub>
                                <m:r>
                                  <m:t xml:space="preserve">ij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423" name=""/>
              <p:cNvSpPr txBox="1"/>
              <p:nvPr/>
            </p:nvSpPr>
            <p:spPr>
              <a:xfrm>
                <a:off x="360000" y="1944000"/>
                <a:ext cx="3215880" cy="4975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</p:sp>
        </mc:Fallback>
      </mc:AlternateContent>
      <p:sp>
        <p:nvSpPr>
          <p:cNvPr id="424" name=""/>
          <p:cNvSpPr txBox="1"/>
          <p:nvPr/>
        </p:nvSpPr>
        <p:spPr>
          <a:xfrm>
            <a:off x="252000" y="1257480"/>
            <a:ext cx="3449520" cy="57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3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NMF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7170480" y="3561480"/>
            <a:ext cx="3449520" cy="57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3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LDA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252000" y="3525480"/>
            <a:ext cx="3449520" cy="57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3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PCA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7170480" y="1260000"/>
            <a:ext cx="3449520" cy="57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3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TF-IDF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" descr=""/>
          <p:cNvPicPr/>
          <p:nvPr/>
        </p:nvPicPr>
        <p:blipFill>
          <a:blip r:embed="rId1"/>
          <a:stretch/>
        </p:blipFill>
        <p:spPr>
          <a:xfrm>
            <a:off x="-460800" y="-19080"/>
            <a:ext cx="1193256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" descr=""/>
          <p:cNvPicPr/>
          <p:nvPr/>
        </p:nvPicPr>
        <p:blipFill>
          <a:blip r:embed="rId1"/>
          <a:stretch/>
        </p:blipFill>
        <p:spPr>
          <a:xfrm>
            <a:off x="1478160" y="360"/>
            <a:ext cx="89618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title"/>
          </p:nvPr>
        </p:nvSpPr>
        <p:spPr>
          <a:xfrm>
            <a:off x="237960" y="278640"/>
            <a:ext cx="10303200" cy="70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Итерации разработки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PlaceHolder 2"/>
          <p:cNvSpPr>
            <a:spLocks noGrp="1"/>
          </p:cNvSpPr>
          <p:nvPr>
            <p:ph/>
          </p:nvPr>
        </p:nvSpPr>
        <p:spPr>
          <a:xfrm>
            <a:off x="396720" y="1091160"/>
            <a:ext cx="11461680" cy="322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8 итераций улучшения пайплайна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Отказ от supervised evaluation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Диагностика коллапса NMF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Переход на LDA-10 и LDA-15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Номер слайда 10"/>
          <p:cNvSpPr/>
          <p:nvPr/>
        </p:nvSpPr>
        <p:spPr>
          <a:xfrm>
            <a:off x="11456280" y="6460560"/>
            <a:ext cx="6627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4FD9E8D7-4717-4531-A5A6-5D3DD5F09966}" type="slidenum">
              <a:rPr b="0" lang="ru-RU" sz="1200" strike="noStrike" u="none">
                <a:solidFill>
                  <a:schemeClr val="dk1">
                    <a:lumMod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3" name="" descr=""/>
          <p:cNvPicPr/>
          <p:nvPr/>
        </p:nvPicPr>
        <p:blipFill>
          <a:blip r:embed="rId1"/>
          <a:stretch/>
        </p:blipFill>
        <p:spPr>
          <a:xfrm>
            <a:off x="1486800" y="3240000"/>
            <a:ext cx="9218160" cy="3497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title"/>
          </p:nvPr>
        </p:nvSpPr>
        <p:spPr>
          <a:xfrm>
            <a:off x="237960" y="278640"/>
            <a:ext cx="10303200" cy="70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Почему NMF был удалён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PlaceHolder 2"/>
          <p:cNvSpPr>
            <a:spLocks noGrp="1"/>
          </p:cNvSpPr>
          <p:nvPr>
            <p:ph/>
          </p:nvPr>
        </p:nvSpPr>
        <p:spPr>
          <a:xfrm>
            <a:off x="396720" y="1091160"/>
            <a:ext cx="11461680" cy="322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NMF коллапсировал: одна тема покрывала &gt;95% корпуса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Причина — extreme sparsity = 0.9993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KL-divergence плохо работает с почти нулевыми значениями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LDA устойчив благодаря Bayesian priors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Номер слайда 11"/>
          <p:cNvSpPr/>
          <p:nvPr/>
        </p:nvSpPr>
        <p:spPr>
          <a:xfrm>
            <a:off x="11456280" y="6460560"/>
            <a:ext cx="6627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3486FC4C-D18C-46A9-A51D-7CD83F721CA7}" type="slidenum">
              <a:rPr b="0" lang="ru-RU" sz="1200" strike="noStrike" u="none">
                <a:solidFill>
                  <a:schemeClr val="dk1">
                    <a:lumMod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7" name="" descr=""/>
          <p:cNvPicPr/>
          <p:nvPr/>
        </p:nvPicPr>
        <p:blipFill>
          <a:blip r:embed="rId1"/>
          <a:stretch/>
        </p:blipFill>
        <p:spPr>
          <a:xfrm>
            <a:off x="2030760" y="3202200"/>
            <a:ext cx="8130600" cy="3565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title"/>
          </p:nvPr>
        </p:nvSpPr>
        <p:spPr>
          <a:xfrm>
            <a:off x="237960" y="278640"/>
            <a:ext cx="10303200" cy="70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Почему LDA оказался лучше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Номер слайда 14"/>
          <p:cNvSpPr/>
          <p:nvPr/>
        </p:nvSpPr>
        <p:spPr>
          <a:xfrm>
            <a:off x="11456280" y="6460560"/>
            <a:ext cx="6627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1030DE28-CA77-4824-988E-69A8E33B5AFE}" type="slidenum">
              <a:rPr b="0" lang="ru-RU" sz="1200" strike="noStrike" u="none">
                <a:solidFill>
                  <a:schemeClr val="dk1">
                    <a:lumMod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PlaceHolder 25"/>
          <p:cNvSpPr txBox="1"/>
          <p:nvPr/>
        </p:nvSpPr>
        <p:spPr>
          <a:xfrm>
            <a:off x="396720" y="1091520"/>
            <a:ext cx="11461680" cy="3228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000" lnSpcReduction="19999"/>
          </a:bodyPr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использует вероятностную модель,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которая намного устойчивее к sparse data.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Поэтому: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темы не схлопываются,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распределения стабильнее,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модель лучше работает на коротких текстах.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title"/>
          </p:nvPr>
        </p:nvSpPr>
        <p:spPr>
          <a:xfrm>
            <a:off x="237960" y="278640"/>
            <a:ext cx="10303200" cy="70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Финальная конфигурация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PlaceHolder 2"/>
          <p:cNvSpPr>
            <a:spLocks noGrp="1"/>
          </p:cNvSpPr>
          <p:nvPr>
            <p:ph/>
          </p:nvPr>
        </p:nvSpPr>
        <p:spPr>
          <a:xfrm>
            <a:off x="396720" y="1091160"/>
            <a:ext cx="11461680" cy="322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294 457 документов после фильтрации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LDA-10 — основная модель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Coherence = 0.37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Diversity = 0.96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Номер слайда 12"/>
          <p:cNvSpPr/>
          <p:nvPr/>
        </p:nvSpPr>
        <p:spPr>
          <a:xfrm>
            <a:off x="11456280" y="6460560"/>
            <a:ext cx="6627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39AE79E5-B7CF-4103-B002-8507B5B8B2F9}" type="slidenum">
              <a:rPr b="0" lang="ru-RU" sz="1200" strike="noStrike" u="none">
                <a:solidFill>
                  <a:schemeClr val="dk1">
                    <a:lumMod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4" name="" descr=""/>
          <p:cNvPicPr/>
          <p:nvPr/>
        </p:nvPicPr>
        <p:blipFill>
          <a:blip r:embed="rId1"/>
          <a:stretch/>
        </p:blipFill>
        <p:spPr>
          <a:xfrm>
            <a:off x="2297160" y="3037320"/>
            <a:ext cx="7602840" cy="3766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" descr=""/>
          <p:cNvPicPr/>
          <p:nvPr/>
        </p:nvPicPr>
        <p:blipFill>
          <a:blip r:embed="rId1"/>
          <a:stretch/>
        </p:blipFill>
        <p:spPr>
          <a:xfrm>
            <a:off x="540000" y="180000"/>
            <a:ext cx="9550440" cy="3362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6" name="" descr=""/>
          <p:cNvPicPr/>
          <p:nvPr/>
        </p:nvPicPr>
        <p:blipFill>
          <a:blip r:embed="rId2"/>
          <a:stretch/>
        </p:blipFill>
        <p:spPr>
          <a:xfrm>
            <a:off x="490680" y="3564000"/>
            <a:ext cx="9589320" cy="327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/>
          </p:cNvSpPr>
          <p:nvPr>
            <p:ph type="title"/>
          </p:nvPr>
        </p:nvSpPr>
        <p:spPr>
          <a:xfrm>
            <a:off x="237960" y="278640"/>
            <a:ext cx="10303200" cy="70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Примеры обнаруженных тем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PlaceHolder 2"/>
          <p:cNvSpPr>
            <a:spLocks noGrp="1"/>
          </p:cNvSpPr>
          <p:nvPr>
            <p:ph/>
          </p:nvPr>
        </p:nvSpPr>
        <p:spPr>
          <a:xfrm>
            <a:off x="396720" y="1091160"/>
            <a:ext cx="11461680" cy="322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Таро и расклады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Программирование и код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Переводы и языки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Поздравления и дни рождения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Номер слайда 6"/>
          <p:cNvSpPr/>
          <p:nvPr/>
        </p:nvSpPr>
        <p:spPr>
          <a:xfrm>
            <a:off x="11456280" y="6460560"/>
            <a:ext cx="6627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6AA4D6D2-B120-4846-A002-DAFCEC4DF232}" type="slidenum">
              <a:rPr b="0" lang="ru-RU" sz="1200" strike="noStrike" u="none">
                <a:solidFill>
                  <a:schemeClr val="dk1">
                    <a:lumMod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" descr=""/>
          <p:cNvPicPr/>
          <p:nvPr/>
        </p:nvPicPr>
        <p:blipFill>
          <a:blip r:embed="rId1"/>
          <a:stretch/>
        </p:blipFill>
        <p:spPr>
          <a:xfrm>
            <a:off x="365400" y="1140480"/>
            <a:ext cx="11461320" cy="4860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title"/>
          </p:nvPr>
        </p:nvSpPr>
        <p:spPr>
          <a:xfrm>
            <a:off x="237960" y="278640"/>
            <a:ext cx="10303200" cy="70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Практическая ценность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PlaceHolder 2"/>
          <p:cNvSpPr>
            <a:spLocks noGrp="1"/>
          </p:cNvSpPr>
          <p:nvPr>
            <p:ph/>
          </p:nvPr>
        </p:nvSpPr>
        <p:spPr>
          <a:xfrm>
            <a:off x="396720" y="1091160"/>
            <a:ext cx="11461680" cy="322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Автоматическая маршрутизация запросов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Анализ пользовательских паттернов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Мониторинг тематических трендов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Основа для интеллектуального роутинга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Номер слайда 7"/>
          <p:cNvSpPr/>
          <p:nvPr/>
        </p:nvSpPr>
        <p:spPr>
          <a:xfrm>
            <a:off x="11456280" y="6460560"/>
            <a:ext cx="6627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46ECB574-3ACB-4E77-A668-FD23EC77B5B0}" type="slidenum">
              <a:rPr b="0" lang="ru-RU" sz="1200" strike="noStrike" u="none">
                <a:solidFill>
                  <a:schemeClr val="dk1">
                    <a:lumMod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title"/>
          </p:nvPr>
        </p:nvSpPr>
        <p:spPr>
          <a:xfrm>
            <a:off x="237960" y="278640"/>
            <a:ext cx="10303200" cy="70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Статистическая валидация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Номер слайда 16"/>
          <p:cNvSpPr/>
          <p:nvPr/>
        </p:nvSpPr>
        <p:spPr>
          <a:xfrm>
            <a:off x="11456280" y="6460560"/>
            <a:ext cx="6627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69CC3B1B-3D26-4D57-ADA3-93C63E62A6E2}" type="slidenum">
              <a:rPr b="0" lang="ru-RU" sz="1200" strike="noStrike" u="none">
                <a:solidFill>
                  <a:schemeClr val="dk1">
                    <a:lumMod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56" name=""/>
          <p:cNvGraphicFramePr/>
          <p:nvPr/>
        </p:nvGraphicFramePr>
        <p:xfrm>
          <a:off x="864000" y="1451880"/>
          <a:ext cx="10464120" cy="4128120"/>
        </p:xfrm>
        <a:graphic>
          <a:graphicData uri="http://schemas.openxmlformats.org/drawingml/2006/table">
            <a:tbl>
              <a:tblPr/>
              <a:tblGrid>
                <a:gridCol w="4649760"/>
                <a:gridCol w="2325240"/>
                <a:gridCol w="3489120"/>
              </a:tblGrid>
              <a:tr h="108360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ru-RU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Проверка</a:t>
                      </a:r>
                      <a:endParaRPr b="1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af2c22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ru-RU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Статус</a:t>
                      </a:r>
                      <a:endParaRPr b="1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af2c22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ru-RU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Значение</a:t>
                      </a:r>
                      <a:endParaRPr b="1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af2c22"/>
                    </a:solidFill>
                  </a:tcPr>
                </a:tc>
              </a:tr>
              <a:tr h="7603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Coherence &gt; 1.5σ выше permutation</a:t>
                      </a:r>
                      <a:endParaRPr b="1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✓ PASS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+4.9σ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603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Стабильность &gt; 0.25</a:t>
                      </a:r>
                      <a:endParaRPr b="1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✓ PASS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mean=0.376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603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Co-occurrence &gt; 1.5x baseline</a:t>
                      </a:r>
                      <a:endParaRPr b="1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✓ PASS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158.1x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6356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Generalization gap &lt; 15%</a:t>
                      </a:r>
                      <a:endParaRPr b="1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✓ PASS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&lt; 5%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57" name=""/>
          <p:cNvSpPr txBox="1"/>
          <p:nvPr/>
        </p:nvSpPr>
        <p:spPr>
          <a:xfrm>
            <a:off x="8100000" y="1158120"/>
            <a:ext cx="3240000" cy="258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Рис. 2 Итоговая валидация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Segoe U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title"/>
          </p:nvPr>
        </p:nvSpPr>
        <p:spPr>
          <a:xfrm>
            <a:off x="237960" y="278640"/>
            <a:ext cx="10303200" cy="70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32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Выводы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2"/>
          <p:cNvSpPr>
            <a:spLocks noGrp="1"/>
          </p:cNvSpPr>
          <p:nvPr>
            <p:ph/>
          </p:nvPr>
        </p:nvSpPr>
        <p:spPr>
          <a:xfrm>
            <a:off x="396720" y="1091160"/>
            <a:ext cx="11461680" cy="322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LDA успешно работает на русскоязычных коротких текстах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POS-фильтр критически важен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Intrinsic evaluation корректнее при плохой разметке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"/>
                <a:ea typeface="Calibri"/>
              </a:rPr>
              <a:t>NMF математически несовместим с данным корпусом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Номер слайда 8"/>
          <p:cNvSpPr/>
          <p:nvPr/>
        </p:nvSpPr>
        <p:spPr>
          <a:xfrm>
            <a:off x="11456280" y="6460560"/>
            <a:ext cx="6627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6C630481-4CC8-4FA1-8128-DA866EF1D412}" type="slidenum">
              <a:rPr b="0" lang="ru-RU" sz="1200" strike="noStrike" u="none">
                <a:solidFill>
                  <a:schemeClr val="dk1">
                    <a:lumMod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title"/>
          </p:nvPr>
        </p:nvSpPr>
        <p:spPr>
          <a:xfrm>
            <a:off x="0" y="1080000"/>
            <a:ext cx="12192120" cy="70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5400" strike="noStrike" u="none">
                <a:solidFill>
                  <a:schemeClr val="accent1"/>
                </a:solidFill>
                <a:effectLst/>
                <a:uFillTx/>
                <a:latin typeface="Segoe UI"/>
              </a:rPr>
              <a:t>Спасибо за внимание!</a:t>
            </a:r>
            <a:endParaRPr b="0" lang="ru-RU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Номер слайда 9"/>
          <p:cNvSpPr/>
          <p:nvPr/>
        </p:nvSpPr>
        <p:spPr>
          <a:xfrm>
            <a:off x="11456280" y="6460560"/>
            <a:ext cx="6627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56556E37-909F-40BA-9041-17D815CD08EC}" type="slidenum">
              <a:rPr b="0" lang="ru-RU" sz="1200" strike="noStrike" u="none">
                <a:solidFill>
                  <a:schemeClr val="dk1">
                    <a:lumMod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3" name="" descr=""/>
          <p:cNvPicPr/>
          <p:nvPr/>
        </p:nvPicPr>
        <p:blipFill>
          <a:blip r:embed="rId1"/>
          <a:stretch/>
        </p:blipFill>
        <p:spPr>
          <a:xfrm>
            <a:off x="4038840" y="2160000"/>
            <a:ext cx="4114440" cy="4114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300 лет СПбГУ">
      <a:dk1>
        <a:srgbClr val="181818"/>
      </a:dk1>
      <a:lt1>
        <a:srgbClr val="ffffff"/>
      </a:lt1>
      <a:dk2>
        <a:srgbClr val="c9bcab"/>
      </a:dk2>
      <a:lt2>
        <a:srgbClr val="fbf9f7"/>
      </a:lt2>
      <a:accent1>
        <a:srgbClr val="af2c22"/>
      </a:accent1>
      <a:accent2>
        <a:srgbClr val="c8a06e"/>
      </a:accent2>
      <a:accent3>
        <a:srgbClr val="8d3f3f"/>
      </a:accent3>
      <a:accent4>
        <a:srgbClr val="c9bcab"/>
      </a:accent4>
      <a:accent5>
        <a:srgbClr val="878787"/>
      </a:accent5>
      <a:accent6>
        <a:srgbClr val="ae6464"/>
      </a:accent6>
      <a:hlink>
        <a:srgbClr val="245590"/>
      </a:hlink>
      <a:folHlink>
        <a:srgbClr val="088fe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300 лет СПбГУ">
      <a:dk1>
        <a:srgbClr val="181818"/>
      </a:dk1>
      <a:lt1>
        <a:srgbClr val="ffffff"/>
      </a:lt1>
      <a:dk2>
        <a:srgbClr val="c9bcab"/>
      </a:dk2>
      <a:lt2>
        <a:srgbClr val="fbf9f7"/>
      </a:lt2>
      <a:accent1>
        <a:srgbClr val="af2c22"/>
      </a:accent1>
      <a:accent2>
        <a:srgbClr val="c8a06e"/>
      </a:accent2>
      <a:accent3>
        <a:srgbClr val="8d3f3f"/>
      </a:accent3>
      <a:accent4>
        <a:srgbClr val="c9bcab"/>
      </a:accent4>
      <a:accent5>
        <a:srgbClr val="878787"/>
      </a:accent5>
      <a:accent6>
        <a:srgbClr val="ae6464"/>
      </a:accent6>
      <a:hlink>
        <a:srgbClr val="245590"/>
      </a:hlink>
      <a:folHlink>
        <a:srgbClr val="088fe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300 лет СПбГУ">
      <a:dk1>
        <a:srgbClr val="181818"/>
      </a:dk1>
      <a:lt1>
        <a:srgbClr val="ffffff"/>
      </a:lt1>
      <a:dk2>
        <a:srgbClr val="c9bcab"/>
      </a:dk2>
      <a:lt2>
        <a:srgbClr val="fbf9f7"/>
      </a:lt2>
      <a:accent1>
        <a:srgbClr val="af2c22"/>
      </a:accent1>
      <a:accent2>
        <a:srgbClr val="c8a06e"/>
      </a:accent2>
      <a:accent3>
        <a:srgbClr val="8d3f3f"/>
      </a:accent3>
      <a:accent4>
        <a:srgbClr val="c9bcab"/>
      </a:accent4>
      <a:accent5>
        <a:srgbClr val="878787"/>
      </a:accent5>
      <a:accent6>
        <a:srgbClr val="ae6464"/>
      </a:accent6>
      <a:hlink>
        <a:srgbClr val="245590"/>
      </a:hlink>
      <a:folHlink>
        <a:srgbClr val="088fe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300 лет СПбГУ">
      <a:dk1>
        <a:srgbClr val="181818"/>
      </a:dk1>
      <a:lt1>
        <a:srgbClr val="ffffff"/>
      </a:lt1>
      <a:dk2>
        <a:srgbClr val="c9bcab"/>
      </a:dk2>
      <a:lt2>
        <a:srgbClr val="fbf9f7"/>
      </a:lt2>
      <a:accent1>
        <a:srgbClr val="af2c22"/>
      </a:accent1>
      <a:accent2>
        <a:srgbClr val="c8a06e"/>
      </a:accent2>
      <a:accent3>
        <a:srgbClr val="8d3f3f"/>
      </a:accent3>
      <a:accent4>
        <a:srgbClr val="c9bcab"/>
      </a:accent4>
      <a:accent5>
        <a:srgbClr val="878787"/>
      </a:accent5>
      <a:accent6>
        <a:srgbClr val="ae6464"/>
      </a:accent6>
      <a:hlink>
        <a:srgbClr val="245590"/>
      </a:hlink>
      <a:folHlink>
        <a:srgbClr val="088fe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300 лет СПбГУ">
      <a:dk1>
        <a:srgbClr val="181818"/>
      </a:dk1>
      <a:lt1>
        <a:srgbClr val="ffffff"/>
      </a:lt1>
      <a:dk2>
        <a:srgbClr val="c9bcab"/>
      </a:dk2>
      <a:lt2>
        <a:srgbClr val="fbf9f7"/>
      </a:lt2>
      <a:accent1>
        <a:srgbClr val="af2c22"/>
      </a:accent1>
      <a:accent2>
        <a:srgbClr val="c8a06e"/>
      </a:accent2>
      <a:accent3>
        <a:srgbClr val="8d3f3f"/>
      </a:accent3>
      <a:accent4>
        <a:srgbClr val="c9bcab"/>
      </a:accent4>
      <a:accent5>
        <a:srgbClr val="878787"/>
      </a:accent5>
      <a:accent6>
        <a:srgbClr val="ae6464"/>
      </a:accent6>
      <a:hlink>
        <a:srgbClr val="245590"/>
      </a:hlink>
      <a:folHlink>
        <a:srgbClr val="088fe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300 лет СПбГУ">
      <a:dk1>
        <a:srgbClr val="181818"/>
      </a:dk1>
      <a:lt1>
        <a:srgbClr val="ffffff"/>
      </a:lt1>
      <a:dk2>
        <a:srgbClr val="c9bcab"/>
      </a:dk2>
      <a:lt2>
        <a:srgbClr val="fbf9f7"/>
      </a:lt2>
      <a:accent1>
        <a:srgbClr val="af2c22"/>
      </a:accent1>
      <a:accent2>
        <a:srgbClr val="c8a06e"/>
      </a:accent2>
      <a:accent3>
        <a:srgbClr val="8d3f3f"/>
      </a:accent3>
      <a:accent4>
        <a:srgbClr val="c9bcab"/>
      </a:accent4>
      <a:accent5>
        <a:srgbClr val="878787"/>
      </a:accent5>
      <a:accent6>
        <a:srgbClr val="ae6464"/>
      </a:accent6>
      <a:hlink>
        <a:srgbClr val="245590"/>
      </a:hlink>
      <a:folHlink>
        <a:srgbClr val="088fe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300 лет СПбГУ">
      <a:dk1>
        <a:srgbClr val="181818"/>
      </a:dk1>
      <a:lt1>
        <a:srgbClr val="ffffff"/>
      </a:lt1>
      <a:dk2>
        <a:srgbClr val="c9bcab"/>
      </a:dk2>
      <a:lt2>
        <a:srgbClr val="fbf9f7"/>
      </a:lt2>
      <a:accent1>
        <a:srgbClr val="af2c22"/>
      </a:accent1>
      <a:accent2>
        <a:srgbClr val="c8a06e"/>
      </a:accent2>
      <a:accent3>
        <a:srgbClr val="8d3f3f"/>
      </a:accent3>
      <a:accent4>
        <a:srgbClr val="c9bcab"/>
      </a:accent4>
      <a:accent5>
        <a:srgbClr val="878787"/>
      </a:accent5>
      <a:accent6>
        <a:srgbClr val="ae6464"/>
      </a:accent6>
      <a:hlink>
        <a:srgbClr val="245590"/>
      </a:hlink>
      <a:folHlink>
        <a:srgbClr val="088fe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300 лет СПбГУ">
      <a:dk1>
        <a:srgbClr val="181818"/>
      </a:dk1>
      <a:lt1>
        <a:srgbClr val="ffffff"/>
      </a:lt1>
      <a:dk2>
        <a:srgbClr val="c9bcab"/>
      </a:dk2>
      <a:lt2>
        <a:srgbClr val="fbf9f7"/>
      </a:lt2>
      <a:accent1>
        <a:srgbClr val="af2c22"/>
      </a:accent1>
      <a:accent2>
        <a:srgbClr val="c8a06e"/>
      </a:accent2>
      <a:accent3>
        <a:srgbClr val="8d3f3f"/>
      </a:accent3>
      <a:accent4>
        <a:srgbClr val="c9bcab"/>
      </a:accent4>
      <a:accent5>
        <a:srgbClr val="878787"/>
      </a:accent5>
      <a:accent6>
        <a:srgbClr val="ae6464"/>
      </a:accent6>
      <a:hlink>
        <a:srgbClr val="245590"/>
      </a:hlink>
      <a:folHlink>
        <a:srgbClr val="088fe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300 лет СПбГУ">
      <a:dk1>
        <a:srgbClr val="181818"/>
      </a:dk1>
      <a:lt1>
        <a:srgbClr val="ffffff"/>
      </a:lt1>
      <a:dk2>
        <a:srgbClr val="c9bcab"/>
      </a:dk2>
      <a:lt2>
        <a:srgbClr val="fbf9f7"/>
      </a:lt2>
      <a:accent1>
        <a:srgbClr val="af2c22"/>
      </a:accent1>
      <a:accent2>
        <a:srgbClr val="c8a06e"/>
      </a:accent2>
      <a:accent3>
        <a:srgbClr val="8d3f3f"/>
      </a:accent3>
      <a:accent4>
        <a:srgbClr val="c9bcab"/>
      </a:accent4>
      <a:accent5>
        <a:srgbClr val="878787"/>
      </a:accent5>
      <a:accent6>
        <a:srgbClr val="ae6464"/>
      </a:accent6>
      <a:hlink>
        <a:srgbClr val="245590"/>
      </a:hlink>
      <a:folHlink>
        <a:srgbClr val="088fe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300 лет СПбГУ">
      <a:dk1>
        <a:srgbClr val="181818"/>
      </a:dk1>
      <a:lt1>
        <a:srgbClr val="ffffff"/>
      </a:lt1>
      <a:dk2>
        <a:srgbClr val="c9bcab"/>
      </a:dk2>
      <a:lt2>
        <a:srgbClr val="fbf9f7"/>
      </a:lt2>
      <a:accent1>
        <a:srgbClr val="af2c22"/>
      </a:accent1>
      <a:accent2>
        <a:srgbClr val="c8a06e"/>
      </a:accent2>
      <a:accent3>
        <a:srgbClr val="8d3f3f"/>
      </a:accent3>
      <a:accent4>
        <a:srgbClr val="c9bcab"/>
      </a:accent4>
      <a:accent5>
        <a:srgbClr val="878787"/>
      </a:accent5>
      <a:accent6>
        <a:srgbClr val="ae6464"/>
      </a:accent6>
      <a:hlink>
        <a:srgbClr val="245590"/>
      </a:hlink>
      <a:folHlink>
        <a:srgbClr val="088fe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300 лет СПбГУ">
      <a:dk1>
        <a:srgbClr val="181818"/>
      </a:dk1>
      <a:lt1>
        <a:srgbClr val="ffffff"/>
      </a:lt1>
      <a:dk2>
        <a:srgbClr val="c9bcab"/>
      </a:dk2>
      <a:lt2>
        <a:srgbClr val="fbf9f7"/>
      </a:lt2>
      <a:accent1>
        <a:srgbClr val="af2c22"/>
      </a:accent1>
      <a:accent2>
        <a:srgbClr val="c8a06e"/>
      </a:accent2>
      <a:accent3>
        <a:srgbClr val="8d3f3f"/>
      </a:accent3>
      <a:accent4>
        <a:srgbClr val="c9bcab"/>
      </a:accent4>
      <a:accent5>
        <a:srgbClr val="878787"/>
      </a:accent5>
      <a:accent6>
        <a:srgbClr val="ae6464"/>
      </a:accent6>
      <a:hlink>
        <a:srgbClr val="245590"/>
      </a:hlink>
      <a:folHlink>
        <a:srgbClr val="088fe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Тема Office">
  <a:themeElements>
    <a:clrScheme name="300 лет СПбГУ">
      <a:dk1>
        <a:srgbClr val="181818"/>
      </a:dk1>
      <a:lt1>
        <a:srgbClr val="ffffff"/>
      </a:lt1>
      <a:dk2>
        <a:srgbClr val="c9bcab"/>
      </a:dk2>
      <a:lt2>
        <a:srgbClr val="fbf9f7"/>
      </a:lt2>
      <a:accent1>
        <a:srgbClr val="af2c22"/>
      </a:accent1>
      <a:accent2>
        <a:srgbClr val="c8a06e"/>
      </a:accent2>
      <a:accent3>
        <a:srgbClr val="8d3f3f"/>
      </a:accent3>
      <a:accent4>
        <a:srgbClr val="c9bcab"/>
      </a:accent4>
      <a:accent5>
        <a:srgbClr val="878787"/>
      </a:accent5>
      <a:accent6>
        <a:srgbClr val="ae6464"/>
      </a:accent6>
      <a:hlink>
        <a:srgbClr val="245590"/>
      </a:hlink>
      <a:folHlink>
        <a:srgbClr val="088fe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Тема Office">
  <a:themeElements>
    <a:clrScheme name="300 лет СПбГУ">
      <a:dk1>
        <a:srgbClr val="181818"/>
      </a:dk1>
      <a:lt1>
        <a:srgbClr val="ffffff"/>
      </a:lt1>
      <a:dk2>
        <a:srgbClr val="c9bcab"/>
      </a:dk2>
      <a:lt2>
        <a:srgbClr val="fbf9f7"/>
      </a:lt2>
      <a:accent1>
        <a:srgbClr val="af2c22"/>
      </a:accent1>
      <a:accent2>
        <a:srgbClr val="c8a06e"/>
      </a:accent2>
      <a:accent3>
        <a:srgbClr val="8d3f3f"/>
      </a:accent3>
      <a:accent4>
        <a:srgbClr val="c9bcab"/>
      </a:accent4>
      <a:accent5>
        <a:srgbClr val="878787"/>
      </a:accent5>
      <a:accent6>
        <a:srgbClr val="ae6464"/>
      </a:accent6>
      <a:hlink>
        <a:srgbClr val="245590"/>
      </a:hlink>
      <a:folHlink>
        <a:srgbClr val="088fe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Тема Office">
  <a:themeElements>
    <a:clrScheme name="300 лет СПбГУ">
      <a:dk1>
        <a:srgbClr val="181818"/>
      </a:dk1>
      <a:lt1>
        <a:srgbClr val="ffffff"/>
      </a:lt1>
      <a:dk2>
        <a:srgbClr val="c9bcab"/>
      </a:dk2>
      <a:lt2>
        <a:srgbClr val="fbf9f7"/>
      </a:lt2>
      <a:accent1>
        <a:srgbClr val="af2c22"/>
      </a:accent1>
      <a:accent2>
        <a:srgbClr val="c8a06e"/>
      </a:accent2>
      <a:accent3>
        <a:srgbClr val="8d3f3f"/>
      </a:accent3>
      <a:accent4>
        <a:srgbClr val="c9bcab"/>
      </a:accent4>
      <a:accent5>
        <a:srgbClr val="878787"/>
      </a:accent5>
      <a:accent6>
        <a:srgbClr val="ae6464"/>
      </a:accent6>
      <a:hlink>
        <a:srgbClr val="245590"/>
      </a:hlink>
      <a:folHlink>
        <a:srgbClr val="088fe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Тема Office">
  <a:themeElements>
    <a:clrScheme name="300 лет СПбГУ">
      <a:dk1>
        <a:srgbClr val="181818"/>
      </a:dk1>
      <a:lt1>
        <a:srgbClr val="ffffff"/>
      </a:lt1>
      <a:dk2>
        <a:srgbClr val="c9bcab"/>
      </a:dk2>
      <a:lt2>
        <a:srgbClr val="fbf9f7"/>
      </a:lt2>
      <a:accent1>
        <a:srgbClr val="af2c22"/>
      </a:accent1>
      <a:accent2>
        <a:srgbClr val="c8a06e"/>
      </a:accent2>
      <a:accent3>
        <a:srgbClr val="8d3f3f"/>
      </a:accent3>
      <a:accent4>
        <a:srgbClr val="c9bcab"/>
      </a:accent4>
      <a:accent5>
        <a:srgbClr val="878787"/>
      </a:accent5>
      <a:accent6>
        <a:srgbClr val="ae6464"/>
      </a:accent6>
      <a:hlink>
        <a:srgbClr val="245590"/>
      </a:hlink>
      <a:folHlink>
        <a:srgbClr val="088fe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Тема Office">
  <a:themeElements>
    <a:clrScheme name="300 лет СПбГУ">
      <a:dk1>
        <a:srgbClr val="181818"/>
      </a:dk1>
      <a:lt1>
        <a:srgbClr val="ffffff"/>
      </a:lt1>
      <a:dk2>
        <a:srgbClr val="c9bcab"/>
      </a:dk2>
      <a:lt2>
        <a:srgbClr val="fbf9f7"/>
      </a:lt2>
      <a:accent1>
        <a:srgbClr val="af2c22"/>
      </a:accent1>
      <a:accent2>
        <a:srgbClr val="c8a06e"/>
      </a:accent2>
      <a:accent3>
        <a:srgbClr val="8d3f3f"/>
      </a:accent3>
      <a:accent4>
        <a:srgbClr val="c9bcab"/>
      </a:accent4>
      <a:accent5>
        <a:srgbClr val="878787"/>
      </a:accent5>
      <a:accent6>
        <a:srgbClr val="ae6464"/>
      </a:accent6>
      <a:hlink>
        <a:srgbClr val="245590"/>
      </a:hlink>
      <a:folHlink>
        <a:srgbClr val="088fe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Тема Office">
  <a:themeElements>
    <a:clrScheme name="300 лет СПбГУ">
      <a:dk1>
        <a:srgbClr val="181818"/>
      </a:dk1>
      <a:lt1>
        <a:srgbClr val="ffffff"/>
      </a:lt1>
      <a:dk2>
        <a:srgbClr val="c9bcab"/>
      </a:dk2>
      <a:lt2>
        <a:srgbClr val="fbf9f7"/>
      </a:lt2>
      <a:accent1>
        <a:srgbClr val="af2c22"/>
      </a:accent1>
      <a:accent2>
        <a:srgbClr val="c8a06e"/>
      </a:accent2>
      <a:accent3>
        <a:srgbClr val="8d3f3f"/>
      </a:accent3>
      <a:accent4>
        <a:srgbClr val="c9bcab"/>
      </a:accent4>
      <a:accent5>
        <a:srgbClr val="878787"/>
      </a:accent5>
      <a:accent6>
        <a:srgbClr val="ae6464"/>
      </a:accent6>
      <a:hlink>
        <a:srgbClr val="245590"/>
      </a:hlink>
      <a:folHlink>
        <a:srgbClr val="088fe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15633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2022-11-23T08:08:14Z</dcterms:created>
  <dc:creator>Nadja Lapshina</dc:creator>
  <dc:description/>
  <dc:language>ru-RU</dc:language>
  <cp:lastModifiedBy/>
  <dcterms:modified xsi:type="dcterms:W3CDTF">2026-05-23T13:26:48Z</dcterms:modified>
  <cp:revision>108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r8>1</vt:r8>
  </property>
  <property fmtid="{D5CDD505-2E9C-101B-9397-08002B2CF9AE}" pid="3" name="PresentationFormat">
    <vt:lpwstr>Широкоэкранный</vt:lpwstr>
  </property>
  <property fmtid="{D5CDD505-2E9C-101B-9397-08002B2CF9AE}" pid="4" name="Slides">
    <vt:r8>16</vt:r8>
  </property>
</Properties>
</file>